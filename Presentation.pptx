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0" r:id="rId10"/>
    <p:sldId id="261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7_Capstone_project\project\DELIVERABLE%203\financial_data_clean(online%20excel)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7_Capstone_project\project\DELIVERABLE%203\financial_data_clean(online%20excel)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7_Capstone_project\project\DELIVERABLE%203\financial_data_clean(online%20excel)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7_Capstone_project\project\DELIVERABLE%203\financial_data_clean(online%20excel)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Monthly Revenue Trend (2022–2023)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12"/>
              <c:pt idx="0">
                <c:v>January</c:v>
              </c:pt>
              <c:pt idx="1">
                <c:v>February</c:v>
              </c:pt>
              <c:pt idx="2">
                <c:v>March</c:v>
              </c:pt>
              <c:pt idx="3">
                <c:v>April</c:v>
              </c:pt>
              <c:pt idx="4">
                <c:v>May</c:v>
              </c:pt>
              <c:pt idx="5">
                <c:v>June</c:v>
              </c:pt>
              <c:pt idx="6">
                <c:v>July</c:v>
              </c:pt>
              <c:pt idx="7">
                <c:v>August</c:v>
              </c:pt>
              <c:pt idx="8">
                <c:v>September</c:v>
              </c:pt>
              <c:pt idx="9">
                <c:v>October</c:v>
              </c:pt>
              <c:pt idx="10">
                <c:v>November</c:v>
              </c:pt>
              <c:pt idx="11">
                <c:v>December</c:v>
              </c:pt>
            </c:strLit>
          </c:cat>
          <c:val>
            <c:numLit>
              <c:formatCode>General</c:formatCode>
              <c:ptCount val="12"/>
              <c:pt idx="0">
                <c:v>31802723.090000004</c:v>
              </c:pt>
              <c:pt idx="1">
                <c:v>26423671.145000007</c:v>
              </c:pt>
              <c:pt idx="2">
                <c:v>29896004.400000006</c:v>
              </c:pt>
              <c:pt idx="3">
                <c:v>32497606.415000021</c:v>
              </c:pt>
              <c:pt idx="4">
                <c:v>32996454.76000002</c:v>
              </c:pt>
              <c:pt idx="5">
                <c:v>35871884.039999992</c:v>
              </c:pt>
              <c:pt idx="6">
                <c:v>32997748.525000002</c:v>
              </c:pt>
              <c:pt idx="7">
                <c:v>42494303.655000016</c:v>
              </c:pt>
              <c:pt idx="8">
                <c:v>41275544.370000005</c:v>
              </c:pt>
              <c:pt idx="9">
                <c:v>41380690.480000004</c:v>
              </c:pt>
              <c:pt idx="10">
                <c:v>41266842.44500003</c:v>
              </c:pt>
              <c:pt idx="11">
                <c:v>43400822.775000006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DCA-4AAE-83F0-31F18A0A63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55347119"/>
        <c:axId val="1055338479"/>
      </c:lineChart>
      <c:catAx>
        <c:axId val="10553471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338479"/>
        <c:crosses val="autoZero"/>
        <c:auto val="1"/>
        <c:lblAlgn val="ctr"/>
        <c:lblOffset val="100"/>
        <c:noMultiLvlLbl val="0"/>
      </c:catAx>
      <c:valAx>
        <c:axId val="105533847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\ 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347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Monthly Expense Trend (2022–2023)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1519850274797761"/>
          <c:y val="0.15311933473609482"/>
          <c:w val="0.76325870946827201"/>
          <c:h val="0.55897660608657185"/>
        </c:manualLayout>
      </c:layout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12"/>
              <c:pt idx="0">
                <c:v>January</c:v>
              </c:pt>
              <c:pt idx="1">
                <c:v>February</c:v>
              </c:pt>
              <c:pt idx="2">
                <c:v>March</c:v>
              </c:pt>
              <c:pt idx="3">
                <c:v>April</c:v>
              </c:pt>
              <c:pt idx="4">
                <c:v>May</c:v>
              </c:pt>
              <c:pt idx="5">
                <c:v>June</c:v>
              </c:pt>
              <c:pt idx="6">
                <c:v>July</c:v>
              </c:pt>
              <c:pt idx="7">
                <c:v>August</c:v>
              </c:pt>
              <c:pt idx="8">
                <c:v>September</c:v>
              </c:pt>
              <c:pt idx="9">
                <c:v>October</c:v>
              </c:pt>
              <c:pt idx="10">
                <c:v>November</c:v>
              </c:pt>
              <c:pt idx="11">
                <c:v>December</c:v>
              </c:pt>
            </c:strLit>
          </c:cat>
          <c:val>
            <c:numLit>
              <c:formatCode>General</c:formatCode>
              <c:ptCount val="12"/>
              <c:pt idx="0">
                <c:v>14539131.259999998</c:v>
              </c:pt>
              <c:pt idx="1">
                <c:v>12407222.779999997</c:v>
              </c:pt>
              <c:pt idx="2">
                <c:v>14322308.620000001</c:v>
              </c:pt>
              <c:pt idx="3">
                <c:v>15970001.700000005</c:v>
              </c:pt>
              <c:pt idx="4">
                <c:v>14410391.410000004</c:v>
              </c:pt>
              <c:pt idx="5">
                <c:v>13359063.760000002</c:v>
              </c:pt>
              <c:pt idx="6">
                <c:v>13988488.120000001</c:v>
              </c:pt>
              <c:pt idx="7">
                <c:v>14176982.459999999</c:v>
              </c:pt>
              <c:pt idx="8">
                <c:v>12811803.849999998</c:v>
              </c:pt>
              <c:pt idx="9">
                <c:v>14147009.389999993</c:v>
              </c:pt>
              <c:pt idx="10">
                <c:v>13804849.549999997</c:v>
              </c:pt>
              <c:pt idx="11">
                <c:v>13804046.899999995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5271-4FCC-A0B0-17FE1F0331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8621119"/>
        <c:axId val="988622559"/>
      </c:lineChart>
      <c:catAx>
        <c:axId val="9886211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622559"/>
        <c:crosses val="autoZero"/>
        <c:auto val="1"/>
        <c:lblAlgn val="ctr"/>
        <c:lblOffset val="100"/>
        <c:noMultiLvlLbl val="0"/>
      </c:catAx>
      <c:valAx>
        <c:axId val="98862255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Expense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&quot;₹&quot;* #,##0_);_(&quot;₹&quot;* \(#,##0\);_(&quot;₹&quot;* &quot;-&quot;_);_(@_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621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Monthly Profit Trend (2022–2023)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12"/>
              <c:pt idx="0">
                <c:v>January</c:v>
              </c:pt>
              <c:pt idx="1">
                <c:v>February</c:v>
              </c:pt>
              <c:pt idx="2">
                <c:v>March</c:v>
              </c:pt>
              <c:pt idx="3">
                <c:v>April</c:v>
              </c:pt>
              <c:pt idx="4">
                <c:v>May</c:v>
              </c:pt>
              <c:pt idx="5">
                <c:v>June</c:v>
              </c:pt>
              <c:pt idx="6">
                <c:v>July</c:v>
              </c:pt>
              <c:pt idx="7">
                <c:v>August</c:v>
              </c:pt>
              <c:pt idx="8">
                <c:v>September</c:v>
              </c:pt>
              <c:pt idx="9">
                <c:v>October</c:v>
              </c:pt>
              <c:pt idx="10">
                <c:v>November</c:v>
              </c:pt>
              <c:pt idx="11">
                <c:v>December</c:v>
              </c:pt>
            </c:strLit>
          </c:cat>
          <c:val>
            <c:numLit>
              <c:formatCode>General</c:formatCode>
              <c:ptCount val="12"/>
              <c:pt idx="0">
                <c:v>39072288.720000006</c:v>
              </c:pt>
              <c:pt idx="1">
                <c:v>32627282.535000008</c:v>
              </c:pt>
              <c:pt idx="2">
                <c:v>37057158.710000008</c:v>
              </c:pt>
              <c:pt idx="3">
                <c:v>40482607.265000023</c:v>
              </c:pt>
              <c:pt idx="4">
                <c:v>40201650.465000018</c:v>
              </c:pt>
              <c:pt idx="5">
                <c:v>42551415.919999987</c:v>
              </c:pt>
              <c:pt idx="6">
                <c:v>39991992.585000001</c:v>
              </c:pt>
              <c:pt idx="7">
                <c:v>49582794.885000013</c:v>
              </c:pt>
              <c:pt idx="8">
                <c:v>47681446.295000002</c:v>
              </c:pt>
              <c:pt idx="9">
                <c:v>48454195.174999997</c:v>
              </c:pt>
              <c:pt idx="10">
                <c:v>48169267.220000029</c:v>
              </c:pt>
              <c:pt idx="11">
                <c:v>50302846.225000001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ECD-4D49-80E2-80D39E6226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7883743"/>
        <c:axId val="1107889023"/>
      </c:lineChart>
      <c:catAx>
        <c:axId val="1107883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889023"/>
        <c:crosses val="autoZero"/>
        <c:auto val="1"/>
        <c:lblAlgn val="ctr"/>
        <c:lblOffset val="100"/>
        <c:noMultiLvlLbl val="0"/>
      </c:catAx>
      <c:valAx>
        <c:axId val="110788902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Profit</a:t>
                </a:r>
              </a:p>
            </c:rich>
          </c:tx>
          <c:layout>
            <c:manualLayout>
              <c:xMode val="edge"/>
              <c:yMode val="edge"/>
              <c:x val="2.5000000000000001E-2"/>
              <c:y val="0.34891477107028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\ 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883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Monthly Budget Variance Trend (2022–2023)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12"/>
              <c:pt idx="0">
                <c:v>January</c:v>
              </c:pt>
              <c:pt idx="1">
                <c:v>February</c:v>
              </c:pt>
              <c:pt idx="2">
                <c:v>March</c:v>
              </c:pt>
              <c:pt idx="3">
                <c:v>April</c:v>
              </c:pt>
              <c:pt idx="4">
                <c:v>May</c:v>
              </c:pt>
              <c:pt idx="5">
                <c:v>June</c:v>
              </c:pt>
              <c:pt idx="6">
                <c:v>July</c:v>
              </c:pt>
              <c:pt idx="7">
                <c:v>August</c:v>
              </c:pt>
              <c:pt idx="8">
                <c:v>September</c:v>
              </c:pt>
              <c:pt idx="9">
                <c:v>October</c:v>
              </c:pt>
              <c:pt idx="10">
                <c:v>November</c:v>
              </c:pt>
              <c:pt idx="11">
                <c:v>December</c:v>
              </c:pt>
            </c:strLit>
          </c:cat>
          <c:val>
            <c:numLit>
              <c:formatCode>General</c:formatCode>
              <c:ptCount val="12"/>
              <c:pt idx="0">
                <c:v>41830470.479999989</c:v>
              </c:pt>
              <c:pt idx="1">
                <c:v>33207349.619999997</c:v>
              </c:pt>
              <c:pt idx="2">
                <c:v>38692960.18</c:v>
              </c:pt>
              <c:pt idx="3">
                <c:v>43197963.089999996</c:v>
              </c:pt>
              <c:pt idx="4">
                <c:v>44505795.669999994</c:v>
              </c:pt>
              <c:pt idx="5">
                <c:v>50152491.900000013</c:v>
              </c:pt>
              <c:pt idx="6">
                <c:v>44279710.200000003</c:v>
              </c:pt>
              <c:pt idx="7">
                <c:v>62792129.440000005</c:v>
              </c:pt>
              <c:pt idx="8">
                <c:v>61420109.280000001</c:v>
              </c:pt>
              <c:pt idx="9">
                <c:v>61240564.860000007</c:v>
              </c:pt>
              <c:pt idx="10">
                <c:v>61234004.039999992</c:v>
              </c:pt>
              <c:pt idx="11">
                <c:v>65130616.469999991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851-440F-BD42-0A5B31400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7899103"/>
        <c:axId val="1107899583"/>
      </c:lineChart>
      <c:catAx>
        <c:axId val="11078991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899583"/>
        <c:crosses val="autoZero"/>
        <c:auto val="1"/>
        <c:lblAlgn val="ctr"/>
        <c:lblOffset val="100"/>
        <c:noMultiLvlLbl val="0"/>
      </c:catAx>
      <c:valAx>
        <c:axId val="11078995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BUDEGT</a:t>
                </a:r>
                <a:r>
                  <a:rPr lang="en-IN" b="1" baseline="0"/>
                  <a:t> VARIANCE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\ 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899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E67E0-AB44-EBE3-F234-205DFF07E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02B05A-9FC5-3F11-A77D-0F59E8561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304D3-9C54-533A-37EE-8313C1050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1A21D-D3D1-81FC-7EF4-4A492100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607E9-203C-FF4B-9A68-BBBB297D1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53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3946-D540-05CF-E6CD-CBC6A7064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92EF1-B8E2-5EF7-F679-5F7D0497E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54627-B22F-D316-B18B-97FB43C0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6ED66-83BF-924C-4363-27771EDDB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397BB-49B5-5DCC-2A3D-5A40715D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47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3CDC-CB1A-B69C-828C-9436F3CD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9C741-EFD8-0E63-F7FE-AAEBFEC82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0C12-583C-CC33-2D50-A031D9433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1C35A-068C-4AB6-3F39-F50CB5C0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F8F14-5D32-8C1D-E796-BF7D46C7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80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477D-4752-4A8C-DA4F-327A126B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DA64C-EB5C-8CDF-E1F4-1EFE41F0A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21E8A-946F-3333-7BC1-DEABD3B9A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53175-18C8-FFE6-D977-3EFDA762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8E8CC-DF8D-DE4F-E8C7-72562EA4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F9538-A67B-1CCC-9419-67D15763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62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9708-27F4-1FA2-02AD-28BB05063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9F075-ACF9-FF62-BA4E-A80FE4C3E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CBE87-1128-4CCD-D5FA-030186C30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137C8-97AF-BBE3-FAEA-0C6C4F1A9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056B90-DFD6-E023-D79B-243102914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A1D57D-87D5-80EC-3A0A-1756F849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F79B6-1D06-07A8-B4D6-46AB2D6A5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8382E-8858-D992-8CE6-35F38E82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47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92CD-F596-B472-6ED9-D16789ED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39042-2A79-5E78-15EA-80E6235E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C1B2F-1882-2D69-D91F-4A5FF746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F5D3A-9F64-2EB6-7A12-244AE6923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40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6F168-8CD0-11C0-CC37-B5EAFEF97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FFEC6-E2C1-DAC1-1639-C8322B0F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4462F-F6E0-5C85-8CC4-35F6036C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57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C250-B1A4-F943-0667-258DD2C0E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A5418-8D47-D762-C8F9-F96029508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15BB4-0BA7-6900-ED57-309FC6AF5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CD6C7-AB85-65A3-A74E-D51C2DF18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D60C7-414D-73E6-BC3A-2D286278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F29F5-3A42-A1FC-7147-498EBBEF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058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A72A3-97E1-4793-7F57-4610AE1DC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6B76C-159A-D7D3-436F-3D4BEDA26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121E1-9A58-5C61-9D95-8446BF6C7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3BE6B-9004-4784-7169-690FBF93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D51FC-B374-26E7-70FF-CA25411F2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F1486-0D5D-6573-BC87-41D8CCF4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971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B5DF2-6060-0398-2C24-534B8215F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3E893-F527-CF17-8CBC-BD27DCC47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A6A75-0DA5-7814-89C5-4F38DB2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DF613-B1D8-42F6-EB59-8785E9EBF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2FA61-93B0-D394-4FBE-BF4EAB23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415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D2355-B0B9-867F-0A9D-75C99EAEC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CF0BC-00DB-5212-FF62-CE229B1A7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79E95-4AE2-C387-BECC-385E237A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C5D5F-4E48-C632-7217-5F236970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8D4F2-02C3-4747-532A-B4E04A00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579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32AA86-1C12-2A72-CE23-ADAEE338D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21A76-68FA-A37B-77C8-A301F49ED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3A8C5-B13B-0AD8-2566-D3095ADB1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AF4BD-7317-4635-AFEB-1B6F0C96D683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149DE-56CE-947C-2343-50256EF24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59A46-7456-8FFC-2F1F-71C42B5C5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55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8B04-AC39-A7F1-EB37-83663ABAD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Financial Performance Analysis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A444D-5E29-73D5-69D6-61F57D56D5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1" dirty="0"/>
              <a:t>Prepared by: </a:t>
            </a:r>
            <a:r>
              <a:rPr lang="en-IN" dirty="0"/>
              <a:t>Mohit Kumar Singh</a:t>
            </a:r>
            <a:endParaRPr lang="en-IN" b="1" dirty="0"/>
          </a:p>
          <a:p>
            <a:pPr algn="l"/>
            <a:r>
              <a:rPr lang="en-IN" b="1" dirty="0"/>
              <a:t>Objective: </a:t>
            </a:r>
            <a:r>
              <a:rPr lang="en-GB" dirty="0"/>
              <a:t>Transform financial data into decision-ready insights</a:t>
            </a:r>
            <a:endParaRPr lang="en-IN" b="1" dirty="0"/>
          </a:p>
          <a:p>
            <a:pPr algn="l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43016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507B6-30CD-CD51-677C-F104D8EAC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3580C-365A-7A93-4079-1FBD17473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Organizations operate in increasingly complex financial environments with large volumes of transactional data.</a:t>
            </a:r>
          </a:p>
          <a:p>
            <a:r>
              <a:rPr lang="en-GB" sz="2400" dirty="0"/>
              <a:t>Financial data is spread across multiple sources including transactions, customers, vendors, budgets, and headcount.</a:t>
            </a:r>
          </a:p>
          <a:p>
            <a:r>
              <a:rPr lang="en-GB" sz="2400" dirty="0"/>
              <a:t>Leadership teams require timely and accurate insights into revenue, expenses, profitability, and efficiency</a:t>
            </a:r>
            <a:r>
              <a:rPr lang="en-IN" sz="2400" dirty="0"/>
              <a:t>.</a:t>
            </a:r>
          </a:p>
          <a:p>
            <a:r>
              <a:rPr lang="en-GB" sz="2400" dirty="0"/>
              <a:t>Lack of consolidated financial visibility can lead to budget overruns, cost inefficiencies, and delayed decision-making.</a:t>
            </a:r>
          </a:p>
          <a:p>
            <a:r>
              <a:rPr lang="en-GB" sz="2400" dirty="0"/>
              <a:t>Financial analytics plays a critical role in improving cost control, budget adherence, and strategic planning.</a:t>
            </a:r>
          </a:p>
        </p:txBody>
      </p:sp>
    </p:spTree>
    <p:extLst>
      <p:ext uri="{BB962C8B-B14F-4D97-AF65-F5344CB8AC3E}">
        <p14:creationId xmlns:p14="http://schemas.microsoft.com/office/powerpoint/2010/main" val="133484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68BD-80DA-2292-AC88-F09A88830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Key Business Challenges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08F8C-AFAB-ECDC-A8C6-82A68AE4F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Increasing operational and payroll costs impacting overall profitability.</a:t>
            </a:r>
          </a:p>
          <a:p>
            <a:r>
              <a:rPr lang="en-GB" sz="2400" dirty="0"/>
              <a:t>Budget overruns observed in certain business units and time periods.</a:t>
            </a:r>
          </a:p>
          <a:p>
            <a:r>
              <a:rPr lang="en-GB" sz="2400" dirty="0"/>
              <a:t>Pressure on profit margins due to rising expenses and inefficient cost control.</a:t>
            </a:r>
          </a:p>
          <a:p>
            <a:r>
              <a:rPr lang="en-GB" sz="2400" dirty="0"/>
              <a:t>High dependency on a limited number of customers or vendors, increasing financial risk.</a:t>
            </a:r>
          </a:p>
          <a:p>
            <a:r>
              <a:rPr lang="en-GB" sz="2400" dirty="0"/>
              <a:t>Limited visibility into key cost drivers and performance variations across the organization.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49083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31B9-ADF3-F561-E3A0-DF660D34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778A1-4605-AA59-DCFB-C3921DD52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/>
              <a:t>Analyze</a:t>
            </a:r>
            <a:r>
              <a:rPr lang="en-GB" sz="2400" dirty="0"/>
              <a:t> overall financial performance across business units and regions.</a:t>
            </a:r>
          </a:p>
          <a:p>
            <a:r>
              <a:rPr lang="en-GB" sz="2400" dirty="0"/>
              <a:t>Track key financial metrics including revenue, expenses, profit, and budget variance.</a:t>
            </a:r>
          </a:p>
          <a:p>
            <a:r>
              <a:rPr lang="en-GB" sz="2400" dirty="0"/>
              <a:t>Identify major cost drivers and areas of inefficiency.</a:t>
            </a:r>
          </a:p>
          <a:p>
            <a:r>
              <a:rPr lang="en-GB" sz="2400" dirty="0"/>
              <a:t>Detect anomalies and data quality issues affecting financial reporting.</a:t>
            </a:r>
          </a:p>
          <a:p>
            <a:r>
              <a:rPr lang="en-GB" sz="2400" dirty="0"/>
              <a:t>Provide actionable, data-driven insights to support management decision-making.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90212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6929-E2AE-D91F-0DCD-89B4EA76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F5776-1C5B-5370-885F-B95AB4F31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Step-by-Step Approach</a:t>
            </a:r>
            <a:endParaRPr lang="en-IN" dirty="0"/>
          </a:p>
          <a:p>
            <a:r>
              <a:rPr lang="en-IN" dirty="0"/>
              <a:t>Raw Data Collection</a:t>
            </a:r>
          </a:p>
          <a:p>
            <a:r>
              <a:rPr lang="en-IN" dirty="0"/>
              <a:t>Data Cleaning &amp; Preparation</a:t>
            </a:r>
          </a:p>
          <a:p>
            <a:r>
              <a:rPr lang="en-IN" dirty="0"/>
              <a:t>KPI Framework Development</a:t>
            </a:r>
          </a:p>
          <a:p>
            <a:r>
              <a:rPr lang="en-IN" dirty="0"/>
              <a:t>SQL-Based Analysis</a:t>
            </a:r>
          </a:p>
          <a:p>
            <a:r>
              <a:rPr lang="en-IN" dirty="0"/>
              <a:t>Statistical Validation (Python)</a:t>
            </a:r>
          </a:p>
          <a:p>
            <a:r>
              <a:rPr lang="en-IN" dirty="0"/>
              <a:t>Dashboard Development (Power BI)</a:t>
            </a:r>
          </a:p>
          <a:p>
            <a:r>
              <a:rPr lang="en-IN" dirty="0"/>
              <a:t>Insight Generation &amp; Strategic Solutions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19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7ED4C-DE1F-B7B3-F3CE-1EBDD500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Inventory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A87F56-1052-C852-2FC3-8096816914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549603"/>
              </p:ext>
            </p:extLst>
          </p:nvPr>
        </p:nvGraphicFramePr>
        <p:xfrm>
          <a:off x="410967" y="1818526"/>
          <a:ext cx="11435136" cy="3739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3842">
                  <a:extLst>
                    <a:ext uri="{9D8B030D-6E8A-4147-A177-3AD203B41FA5}">
                      <a16:colId xmlns:a16="http://schemas.microsoft.com/office/drawing/2014/main" val="1161718606"/>
                    </a:ext>
                  </a:extLst>
                </a:gridCol>
                <a:gridCol w="4028571">
                  <a:extLst>
                    <a:ext uri="{9D8B030D-6E8A-4147-A177-3AD203B41FA5}">
                      <a16:colId xmlns:a16="http://schemas.microsoft.com/office/drawing/2014/main" val="2644385170"/>
                    </a:ext>
                  </a:extLst>
                </a:gridCol>
                <a:gridCol w="2001774">
                  <a:extLst>
                    <a:ext uri="{9D8B030D-6E8A-4147-A177-3AD203B41FA5}">
                      <a16:colId xmlns:a16="http://schemas.microsoft.com/office/drawing/2014/main" val="2159653719"/>
                    </a:ext>
                  </a:extLst>
                </a:gridCol>
                <a:gridCol w="3027684">
                  <a:extLst>
                    <a:ext uri="{9D8B030D-6E8A-4147-A177-3AD203B41FA5}">
                      <a16:colId xmlns:a16="http://schemas.microsoft.com/office/drawing/2014/main" val="1754427046"/>
                    </a:ext>
                  </a:extLst>
                </a:gridCol>
                <a:gridCol w="863265">
                  <a:extLst>
                    <a:ext uri="{9D8B030D-6E8A-4147-A177-3AD203B41FA5}">
                      <a16:colId xmlns:a16="http://schemas.microsoft.com/office/drawing/2014/main" val="2700199947"/>
                    </a:ext>
                  </a:extLst>
                </a:gridCol>
              </a:tblGrid>
              <a:tr h="7206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Dataset Name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Description</a:t>
                      </a: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Key Column (Primary Key)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Business Purpose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Row Count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b"/>
                </a:tc>
                <a:extLst>
                  <a:ext uri="{0D108BD9-81ED-4DB2-BD59-A6C34878D82A}">
                    <a16:rowId xmlns:a16="http://schemas.microsoft.com/office/drawing/2014/main" val="1192037669"/>
                  </a:ext>
                </a:extLst>
              </a:tr>
              <a:tr h="603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Customers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Customer master data including segment, region, and status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customer_id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Analyze revenue by customer and segment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400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b"/>
                </a:tc>
                <a:extLst>
                  <a:ext uri="{0D108BD9-81ED-4DB2-BD59-A6C34878D82A}">
                    <a16:rowId xmlns:a16="http://schemas.microsoft.com/office/drawing/2014/main" val="1725692905"/>
                  </a:ext>
                </a:extLst>
              </a:tr>
              <a:tr h="603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Vendors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Vendor master data including category and region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vendor_id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Analyze expenses and vendor costs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120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b"/>
                </a:tc>
                <a:extLst>
                  <a:ext uri="{0D108BD9-81ED-4DB2-BD59-A6C34878D82A}">
                    <a16:rowId xmlns:a16="http://schemas.microsoft.com/office/drawing/2014/main" val="2124996623"/>
                  </a:ext>
                </a:extLst>
              </a:tr>
              <a:tr h="603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Headcount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Employee data including business unit and CTC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employee_id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Analyze payroll cost and cost per employee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200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b"/>
                </a:tc>
                <a:extLst>
                  <a:ext uri="{0D108BD9-81ED-4DB2-BD59-A6C34878D82A}">
                    <a16:rowId xmlns:a16="http://schemas.microsoft.com/office/drawing/2014/main" val="3916853088"/>
                  </a:ext>
                </a:extLst>
              </a:tr>
              <a:tr h="603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Budget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Budgeted revenue and expense by month and business unit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+ month + business_unit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Compare actuals vs budget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72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b"/>
                </a:tc>
                <a:extLst>
                  <a:ext uri="{0D108BD9-81ED-4DB2-BD59-A6C34878D82A}">
                    <a16:rowId xmlns:a16="http://schemas.microsoft.com/office/drawing/2014/main" val="1254603324"/>
                  </a:ext>
                </a:extLst>
              </a:tr>
              <a:tr h="603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Financial Transactions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All financial revenue and expense transactions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transaction_id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Calculate actual revenue, expense, and profit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10400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3" marR="5753" marT="5753" marB="0" anchor="b"/>
                </a:tc>
                <a:extLst>
                  <a:ext uri="{0D108BD9-81ED-4DB2-BD59-A6C34878D82A}">
                    <a16:rowId xmlns:a16="http://schemas.microsoft.com/office/drawing/2014/main" val="591657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135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81D03-27AD-2E41-6C9F-735C33F7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Identify Foreign Key Relationship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4E8029-56B8-51B7-4224-B71D515F58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955138"/>
              </p:ext>
            </p:extLst>
          </p:nvPr>
        </p:nvGraphicFramePr>
        <p:xfrm>
          <a:off x="838199" y="1880170"/>
          <a:ext cx="9970213" cy="34932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6446">
                  <a:extLst>
                    <a:ext uri="{9D8B030D-6E8A-4147-A177-3AD203B41FA5}">
                      <a16:colId xmlns:a16="http://schemas.microsoft.com/office/drawing/2014/main" val="1032782347"/>
                    </a:ext>
                  </a:extLst>
                </a:gridCol>
                <a:gridCol w="2455572">
                  <a:extLst>
                    <a:ext uri="{9D8B030D-6E8A-4147-A177-3AD203B41FA5}">
                      <a16:colId xmlns:a16="http://schemas.microsoft.com/office/drawing/2014/main" val="2042544318"/>
                    </a:ext>
                  </a:extLst>
                </a:gridCol>
                <a:gridCol w="2366816">
                  <a:extLst>
                    <a:ext uri="{9D8B030D-6E8A-4147-A177-3AD203B41FA5}">
                      <a16:colId xmlns:a16="http://schemas.microsoft.com/office/drawing/2014/main" val="172716419"/>
                    </a:ext>
                  </a:extLst>
                </a:gridCol>
                <a:gridCol w="2041379">
                  <a:extLst>
                    <a:ext uri="{9D8B030D-6E8A-4147-A177-3AD203B41FA5}">
                      <a16:colId xmlns:a16="http://schemas.microsoft.com/office/drawing/2014/main" val="3270143045"/>
                    </a:ext>
                  </a:extLst>
                </a:gridCol>
              </a:tblGrid>
              <a:tr h="7101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Child Table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Foreign Key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Parent Table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Parent Key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27486376"/>
                  </a:ext>
                </a:extLst>
              </a:tr>
              <a:tr h="5566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Financial Transactions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customer_id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Customers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customer_id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36828035"/>
                  </a:ext>
                </a:extLst>
              </a:tr>
              <a:tr h="5566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Financial Transactions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vendor_id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Vendors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vendor_id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61839978"/>
                  </a:ext>
                </a:extLst>
              </a:tr>
              <a:tr h="5566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Financial Transactions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employee_id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Headcount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employee_id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5567809"/>
                  </a:ext>
                </a:extLst>
              </a:tr>
              <a:tr h="5566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Financial Transactions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business_unit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Budget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business_unit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51875360"/>
                  </a:ext>
                </a:extLst>
              </a:tr>
              <a:tr h="5566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Financial Transactions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transaction_date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Budget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year/month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77770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644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707E-DAE2-9018-CB41-79AF42F5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cleaning walkthrough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81E02B-F52D-6C7B-C40C-D172E93FD9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869287"/>
              </p:ext>
            </p:extLst>
          </p:nvPr>
        </p:nvGraphicFramePr>
        <p:xfrm>
          <a:off x="838199" y="1931542"/>
          <a:ext cx="10874339" cy="32671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2108">
                  <a:extLst>
                    <a:ext uri="{9D8B030D-6E8A-4147-A177-3AD203B41FA5}">
                      <a16:colId xmlns:a16="http://schemas.microsoft.com/office/drawing/2014/main" val="2916009858"/>
                    </a:ext>
                  </a:extLst>
                </a:gridCol>
                <a:gridCol w="1324601">
                  <a:extLst>
                    <a:ext uri="{9D8B030D-6E8A-4147-A177-3AD203B41FA5}">
                      <a16:colId xmlns:a16="http://schemas.microsoft.com/office/drawing/2014/main" val="391217006"/>
                    </a:ext>
                  </a:extLst>
                </a:gridCol>
                <a:gridCol w="1803979">
                  <a:extLst>
                    <a:ext uri="{9D8B030D-6E8A-4147-A177-3AD203B41FA5}">
                      <a16:colId xmlns:a16="http://schemas.microsoft.com/office/drawing/2014/main" val="2797386226"/>
                    </a:ext>
                  </a:extLst>
                </a:gridCol>
                <a:gridCol w="1425522">
                  <a:extLst>
                    <a:ext uri="{9D8B030D-6E8A-4147-A177-3AD203B41FA5}">
                      <a16:colId xmlns:a16="http://schemas.microsoft.com/office/drawing/2014/main" val="668720737"/>
                    </a:ext>
                  </a:extLst>
                </a:gridCol>
                <a:gridCol w="2258129">
                  <a:extLst>
                    <a:ext uri="{9D8B030D-6E8A-4147-A177-3AD203B41FA5}">
                      <a16:colId xmlns:a16="http://schemas.microsoft.com/office/drawing/2014/main" val="283501360"/>
                    </a:ext>
                  </a:extLst>
                </a:gridCol>
              </a:tblGrid>
              <a:tr h="5647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Issue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Dataset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Cleaning Action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Method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Business Impact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extLst>
                  <a:ext uri="{0D108BD9-81ED-4DB2-BD59-A6C34878D82A}">
                    <a16:rowId xmlns:a16="http://schemas.microsoft.com/office/drawing/2014/main" val="680562997"/>
                  </a:ext>
                </a:extLst>
              </a:tr>
              <a:tr h="7526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year, month, </a:t>
                      </a:r>
                      <a:r>
                        <a:rPr lang="en-GB" sz="1100" u="none" strike="noStrike" dirty="0" err="1">
                          <a:effectLst/>
                        </a:rPr>
                        <a:t>budgeted_revenue</a:t>
                      </a:r>
                      <a:r>
                        <a:rPr lang="en-GB" sz="1100" u="none" strike="noStrike" dirty="0">
                          <a:effectLst/>
                        </a:rPr>
                        <a:t>, </a:t>
                      </a:r>
                      <a:r>
                        <a:rPr lang="en-GB" sz="1100" u="none" strike="noStrike" dirty="0" err="1">
                          <a:effectLst/>
                        </a:rPr>
                        <a:t>budgeted_expense</a:t>
                      </a:r>
                      <a:r>
                        <a:rPr lang="en-GB" sz="1100" u="none" strike="noStrike" dirty="0">
                          <a:effectLst/>
                        </a:rPr>
                        <a:t> stored as general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Budget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Convert to numeric / integer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Excel / Python casting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Incorrect budget variance calculations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extLst>
                  <a:ext uri="{0D108BD9-81ED-4DB2-BD59-A6C34878D82A}">
                    <a16:rowId xmlns:a16="http://schemas.microsoft.com/office/drawing/2014/main" val="1906844088"/>
                  </a:ext>
                </a:extLst>
              </a:tr>
              <a:tr h="3899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Missing region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Customers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Fill with “Unknown”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Business rule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Incomplete regional analysis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extLst>
                  <a:ext uri="{0D108BD9-81ED-4DB2-BD59-A6C34878D82A}">
                    <a16:rowId xmlns:a16="http://schemas.microsoft.com/office/drawing/2014/main" val="1903642980"/>
                  </a:ext>
                </a:extLst>
              </a:tr>
              <a:tr h="3899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amount stored as general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Financial Transactions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Convert to float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Excel / Python casting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Revenue &amp; expense KPIs inaccurate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extLst>
                  <a:ext uri="{0D108BD9-81ED-4DB2-BD59-A6C34878D82A}">
                    <a16:rowId xmlns:a16="http://schemas.microsoft.com/office/drawing/2014/main" val="625888054"/>
                  </a:ext>
                </a:extLst>
              </a:tr>
              <a:tr h="3899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Mixed date formats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Financial Transactions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Standardize to YYYY-MM-DD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Excel / Python datetime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Incorrect time-series analysis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extLst>
                  <a:ext uri="{0D108BD9-81ED-4DB2-BD59-A6C34878D82A}">
                    <a16:rowId xmlns:a16="http://schemas.microsoft.com/office/drawing/2014/main" val="3688304596"/>
                  </a:ext>
                </a:extLst>
              </a:tr>
              <a:tr h="3899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Invalid vendor_id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Financial Transactions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Flag and exclude from analysis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FK validation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Expense misattribution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extLst>
                  <a:ext uri="{0D108BD9-81ED-4DB2-BD59-A6C34878D82A}">
                    <a16:rowId xmlns:a16="http://schemas.microsoft.com/office/drawing/2014/main" val="4035194267"/>
                  </a:ext>
                </a:extLst>
              </a:tr>
              <a:tr h="3899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cost_to_company stored as text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Headcount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Convert to numeric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Excel / Python casting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Wrong cost-per-employee KPI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0" marR="6100" marT="6100" marB="0" anchor="ctr"/>
                </a:tc>
                <a:extLst>
                  <a:ext uri="{0D108BD9-81ED-4DB2-BD59-A6C34878D82A}">
                    <a16:rowId xmlns:a16="http://schemas.microsoft.com/office/drawing/2014/main" val="4061281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3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012B-24F2-3F4B-488D-C053915F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Performance Indicators (KPIs)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494FC6-3732-705F-3650-16FE7DF20F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916893"/>
              </p:ext>
            </p:extLst>
          </p:nvPr>
        </p:nvGraphicFramePr>
        <p:xfrm>
          <a:off x="1462630" y="1809884"/>
          <a:ext cx="9266739" cy="43828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088913">
                  <a:extLst>
                    <a:ext uri="{9D8B030D-6E8A-4147-A177-3AD203B41FA5}">
                      <a16:colId xmlns:a16="http://schemas.microsoft.com/office/drawing/2014/main" val="3315526329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3489259066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634708697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KPI</a:t>
                      </a:r>
                      <a:endParaRPr lang="en-IN" sz="1600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Definition</a:t>
                      </a:r>
                      <a:endParaRPr lang="en-IN" sz="16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Business Purpose</a:t>
                      </a:r>
                      <a:endParaRPr lang="en-IN" sz="16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2382720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Revenue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Total value of all positive financial transactions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Measure sales and income performance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0477342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Expense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Total value of all negative financial transactions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Monitor and control costs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7316119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Profit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Revenue minus Expense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Assess overall financial health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9431702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Budget Variance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Actual performance minus budgeted targets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Identify over-spending or under-utilization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2423509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Gross Margin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Profit divided by Revenue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Measure operational efficiency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5150704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Cost per Employee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Total cost to company divided by active headcount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Evaluate workforce productivity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893350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Revenue per Customer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Total revenue divided by number of customers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Assess customer value and concentration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7824833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Expense per Vendor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Total expenses divided by number of vendors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Analyze</a:t>
                      </a:r>
                      <a:r>
                        <a:rPr lang="en-IN" sz="1600" dirty="0"/>
                        <a:t> vendor cost efficiency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0681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160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6C76-3486-9904-C6A9-63EE00FC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KPI Segmentation &amp; Analysis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946F6-C885-95D2-54DD-27F83885C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To enable deeper financial insights, KPIs will be </a:t>
            </a:r>
            <a:r>
              <a:rPr lang="en-GB" sz="2400" dirty="0" err="1"/>
              <a:t>analyzed</a:t>
            </a:r>
            <a:r>
              <a:rPr lang="en-GB" sz="2400" dirty="0"/>
              <a:t> across the following dimensions:</a:t>
            </a:r>
          </a:p>
          <a:p>
            <a:r>
              <a:rPr lang="en-GB" sz="2000" b="1" dirty="0"/>
              <a:t>Time Period:</a:t>
            </a:r>
            <a:r>
              <a:rPr lang="en-GB" sz="2000" dirty="0"/>
              <a:t> Monthly, Quarterly, and Yearly trends</a:t>
            </a:r>
          </a:p>
          <a:p>
            <a:r>
              <a:rPr lang="en-GB" sz="2000" b="1" dirty="0"/>
              <a:t>Business Unit / Department:</a:t>
            </a:r>
            <a:r>
              <a:rPr lang="en-GB" sz="2000" dirty="0"/>
              <a:t> Performance comparison across units</a:t>
            </a:r>
          </a:p>
          <a:p>
            <a:r>
              <a:rPr lang="en-GB" sz="2000" b="1" dirty="0"/>
              <a:t>Region:</a:t>
            </a:r>
            <a:r>
              <a:rPr lang="en-GB" sz="2000" dirty="0"/>
              <a:t> Geographic analysis of revenue and expenses</a:t>
            </a:r>
          </a:p>
          <a:p>
            <a:r>
              <a:rPr lang="en-GB" sz="2000" b="1" dirty="0"/>
              <a:t>Customer Segment:</a:t>
            </a:r>
            <a:r>
              <a:rPr lang="en-GB" sz="2000" dirty="0"/>
              <a:t> Revenue contribution by customer type</a:t>
            </a:r>
          </a:p>
          <a:p>
            <a:r>
              <a:rPr lang="en-GB" sz="2000" b="1" dirty="0"/>
              <a:t>Vendor Category:</a:t>
            </a:r>
            <a:r>
              <a:rPr lang="en-GB" sz="2000" dirty="0"/>
              <a:t> Expense distribution across vendor types</a:t>
            </a:r>
          </a:p>
          <a:p>
            <a:pPr marL="0" indent="0">
              <a:buNone/>
            </a:pPr>
            <a:r>
              <a:rPr lang="en-GB" sz="2400" dirty="0"/>
              <a:t>This segmentation helps identify performance variations, inefficiencies, and cost drivers.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74087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8AD2755-AFB6-6D4D-2AE2-D31AB909B01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/>
              <a:t>Revenue Trend — Key Findings</a:t>
            </a:r>
            <a:endParaRPr lang="en-IN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29F2842-DAFE-54FC-487C-1289B02AC4B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467573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/>
              <a:t>What We Observed</a:t>
            </a:r>
            <a:endParaRPr lang="en-GB"/>
          </a:p>
          <a:p>
            <a:r>
              <a:rPr lang="en-GB" sz="2000"/>
              <a:t>Revenue shows an overall upward trend across 2022–2023</a:t>
            </a:r>
          </a:p>
          <a:p>
            <a:r>
              <a:rPr lang="en-GB" sz="2000"/>
              <a:t>Growth is uneven with sharp increases in select months</a:t>
            </a:r>
          </a:p>
          <a:p>
            <a:r>
              <a:rPr lang="en-GB" sz="2000"/>
              <a:t>Later months consistently outperform early months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/>
              <a:t>Business Insight</a:t>
            </a:r>
            <a:endParaRPr lang="en-GB"/>
          </a:p>
          <a:p>
            <a:r>
              <a:rPr lang="en-GB" sz="2000"/>
              <a:t>Revenue growth is driven by a limited number of high-performing months.</a:t>
            </a:r>
          </a:p>
          <a:p>
            <a:r>
              <a:rPr lang="en-GB" sz="2000"/>
              <a:t>Indicates revenue concentration risk, rather than stable recurring income.</a:t>
            </a:r>
          </a:p>
          <a:p>
            <a:r>
              <a:rPr lang="en-GB" sz="2000"/>
              <a:t>Business may be dependent on seasonal demand or large transactions.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b="1"/>
              <a:t>Risk / Implication</a:t>
            </a:r>
            <a:r>
              <a:rPr lang="en-IN" sz="2000"/>
              <a:t> </a:t>
            </a:r>
          </a:p>
          <a:p>
            <a:r>
              <a:rPr lang="en-GB" sz="2000"/>
              <a:t>High dependency on a few periods/customers increases revenue concentration risk</a:t>
            </a:r>
          </a:p>
          <a:p>
            <a:endParaRPr lang="en-IN" sz="20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B469F08-1D63-878A-9C53-850F0CA31C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263196"/>
              </p:ext>
            </p:extLst>
          </p:nvPr>
        </p:nvGraphicFramePr>
        <p:xfrm>
          <a:off x="6815579" y="1825625"/>
          <a:ext cx="5090475" cy="3434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6296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D3B4B6-809A-DD33-3603-F3BF271B4CB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/>
              <a:t>Expense Trend — Key Findings</a:t>
            </a:r>
            <a:endParaRPr lang="en-IN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69ABC6-78F7-B2FD-3390-CD23F91CE3F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835977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b="1"/>
              <a:t>What We Observed</a:t>
            </a:r>
          </a:p>
          <a:p>
            <a:r>
              <a:rPr lang="en-GB" sz="2000"/>
              <a:t>Expenses remain relatively stable month-over-month.</a:t>
            </a:r>
          </a:p>
          <a:p>
            <a:r>
              <a:rPr lang="en-GB" sz="2000"/>
              <a:t>Minor spikes appear, but no extreme cost surges.</a:t>
            </a:r>
          </a:p>
          <a:p>
            <a:r>
              <a:rPr lang="en-GB" sz="2000"/>
              <a:t>Expense trend is flatter compared to revenue trend.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b="1"/>
              <a:t>Business Insight</a:t>
            </a:r>
          </a:p>
          <a:p>
            <a:r>
              <a:rPr lang="en-GB" sz="2000"/>
              <a:t>Indicates controlled cost structure.</a:t>
            </a:r>
          </a:p>
          <a:p>
            <a:r>
              <a:rPr lang="en-GB" sz="2000"/>
              <a:t>Expenses do not scale proportionally with revenue growth.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b="1"/>
              <a:t>Operating leverage opportunity</a:t>
            </a:r>
          </a:p>
          <a:p>
            <a:r>
              <a:rPr lang="en-GB" sz="2000"/>
              <a:t>Stable costs + growing revenue → potential margin expansion if revenue becomes consistent.</a:t>
            </a:r>
            <a:endParaRPr lang="en-IN" sz="20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458E34B-8EC2-C01D-8AA3-4C74EF2BCD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5264686"/>
              </p:ext>
            </p:extLst>
          </p:nvPr>
        </p:nvGraphicFramePr>
        <p:xfrm>
          <a:off x="6345810" y="1825625"/>
          <a:ext cx="5305720" cy="3076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83341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07D7C-7FE2-B524-4C96-D51E2E6C84B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/>
              <a:t>Profit Trend — Key Findings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B174-E540-714C-54FD-9FD6F4383D4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572328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/>
              <a:t>What We Observed</a:t>
            </a:r>
          </a:p>
          <a:p>
            <a:r>
              <a:rPr lang="en-GB" sz="2000"/>
              <a:t>Profit trend is volatile, fluctuating across months.</a:t>
            </a:r>
          </a:p>
          <a:p>
            <a:r>
              <a:rPr lang="en-GB" sz="2000"/>
              <a:t>Some months show noticeably lower profitability.</a:t>
            </a:r>
          </a:p>
          <a:p>
            <a:r>
              <a:rPr lang="en-GB" sz="2000"/>
              <a:t>Profit does not increase linearly with revenue.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/>
              <a:t>Business Insight</a:t>
            </a:r>
          </a:p>
          <a:p>
            <a:r>
              <a:rPr lang="en-GB" sz="2000"/>
              <a:t>Profitability is sensitive to revenue fluctuations.</a:t>
            </a:r>
          </a:p>
          <a:p>
            <a:r>
              <a:rPr lang="en-GB" sz="2000"/>
              <a:t>High expenses during moderate-revenue months compress margins.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/>
              <a:t>Risk Identified</a:t>
            </a:r>
            <a:endParaRPr lang="en-GB"/>
          </a:p>
          <a:p>
            <a:r>
              <a:rPr lang="en-GB" sz="2000"/>
              <a:t>Margin instability risk as inconsistent profit makes forecasting and long-term planning difficult.</a:t>
            </a:r>
            <a:endParaRPr lang="en-IN" sz="20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A7183B6-26FB-F49F-BB82-0F55B65699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7751206"/>
              </p:ext>
            </p:extLst>
          </p:nvPr>
        </p:nvGraphicFramePr>
        <p:xfrm>
          <a:off x="6274340" y="1922643"/>
          <a:ext cx="5346971" cy="3661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1948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8655-3F02-E598-0114-829171FF573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/>
              <a:t>Budget Variance — Key Findings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66CBC-A29D-E297-BCFD-A09044EDE02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9255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/>
              <a:t>What We Observed</a:t>
            </a:r>
          </a:p>
          <a:p>
            <a:r>
              <a:rPr lang="en-GB" sz="2000"/>
              <a:t>Budget variance is predominantly positive.</a:t>
            </a:r>
          </a:p>
          <a:p>
            <a:r>
              <a:rPr lang="en-GB" sz="2000"/>
              <a:t>Overspending occurs in most months.</a:t>
            </a:r>
          </a:p>
          <a:p>
            <a:r>
              <a:rPr lang="en-GB" sz="2000"/>
              <a:t>Variance magnitude increases in later periods</a:t>
            </a:r>
            <a:r>
              <a:rPr lang="en-GB"/>
              <a:t>.</a:t>
            </a:r>
            <a:r>
              <a:rPr lang="en-GB" sz="200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/>
              <a:t>Business Insight</a:t>
            </a:r>
          </a:p>
          <a:p>
            <a:r>
              <a:rPr lang="en-GB" sz="2000"/>
              <a:t>Budgets are not realistically aligned with actual cost behavior.</a:t>
            </a:r>
          </a:p>
          <a:p>
            <a:r>
              <a:rPr lang="en-GB" sz="2000"/>
              <a:t>Weak monitoring or delayed corrective actions.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/>
              <a:t>Risk Identified</a:t>
            </a:r>
          </a:p>
          <a:p>
            <a:r>
              <a:rPr lang="en-GB" sz="2000"/>
              <a:t>Weak budget discipline may lead to cash flow stress and inefficient resource allocation 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F5E15D1-8F86-BEEF-6E05-C4B5641A1A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3886023"/>
              </p:ext>
            </p:extLst>
          </p:nvPr>
        </p:nvGraphicFramePr>
        <p:xfrm>
          <a:off x="6271098" y="1942358"/>
          <a:ext cx="5635557" cy="3344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14046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CC5DBC-3B50-8C12-A0FB-B54D02D6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Risks Identified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BAEDC3-7B17-EC80-41F7-448342B33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Revenue growth exists but is inconsistent as Revenue dependency on limited customers</a:t>
            </a:r>
          </a:p>
          <a:p>
            <a:r>
              <a:rPr lang="en-GB" dirty="0"/>
              <a:t>Costs are stable but not optimized as Higher cost pressure is on Enterprise unit</a:t>
            </a:r>
          </a:p>
          <a:p>
            <a:r>
              <a:rPr lang="en-GB" dirty="0"/>
              <a:t>Profitability is volatile</a:t>
            </a:r>
          </a:p>
          <a:p>
            <a:r>
              <a:rPr lang="en-GB" dirty="0"/>
              <a:t>Budget overruns are frequent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Overall Risk:</a:t>
            </a:r>
            <a:br>
              <a:rPr lang="en-GB" dirty="0"/>
            </a:br>
            <a:r>
              <a:rPr lang="en-GB" dirty="0"/>
              <a:t>Financial performance depends heavily on peak periods and lacks tight budget control.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6382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04F9-66C6-44B1-F162-4EF76659A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STRATEGIC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96EEA-FE8C-1B12-A20D-6D918C3F3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Recommended Actions</a:t>
            </a:r>
          </a:p>
          <a:p>
            <a:r>
              <a:rPr lang="en-IN" dirty="0"/>
              <a:t>Diversify revenue streams to reduce seasonality risk and also Diversify customer base</a:t>
            </a:r>
          </a:p>
          <a:p>
            <a:r>
              <a:rPr lang="en-IN" dirty="0"/>
              <a:t>Improve budget forecasting using historical variance patterns.</a:t>
            </a:r>
          </a:p>
          <a:p>
            <a:r>
              <a:rPr lang="en-IN" dirty="0"/>
              <a:t>Implement monthly budget variance monitoring.</a:t>
            </a:r>
          </a:p>
          <a:p>
            <a:r>
              <a:rPr lang="en-GB" dirty="0"/>
              <a:t>Optimize cost structure in Enterprise unit</a:t>
            </a:r>
            <a:endParaRPr lang="en-IN" dirty="0"/>
          </a:p>
          <a:p>
            <a:r>
              <a:rPr lang="en-IN" dirty="0"/>
              <a:t>Focus on margin optimization during mid-performing months.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915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E7CD-1995-4A77-3208-A92A7A99E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Business Impact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0E03E-2386-623C-F4C8-2A8FF1701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Improved financial transparency</a:t>
            </a:r>
          </a:p>
          <a:p>
            <a:r>
              <a:rPr lang="en-GB" dirty="0"/>
              <a:t>Identified cost optimization opportunities</a:t>
            </a:r>
          </a:p>
          <a:p>
            <a:r>
              <a:rPr lang="en-GB" dirty="0"/>
              <a:t>Enabled data-driven executive decisions</a:t>
            </a:r>
          </a:p>
          <a:p>
            <a:r>
              <a:rPr lang="en-GB" dirty="0"/>
              <a:t>Created scalable KPI monitoring framework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354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A396E-72D4-3BB9-2310-04E2232ED18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25625"/>
            <a:ext cx="121920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25707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1154</Words>
  <Application>Microsoft Office PowerPoint</Application>
  <PresentationFormat>Widescreen</PresentationFormat>
  <Paragraphs>231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Financial Performance Analysis </vt:lpstr>
      <vt:lpstr>Business Context</vt:lpstr>
      <vt:lpstr> Key Business Challenges </vt:lpstr>
      <vt:lpstr>Project Objectives</vt:lpstr>
      <vt:lpstr>Project Workflow</vt:lpstr>
      <vt:lpstr>Data Inventory table</vt:lpstr>
      <vt:lpstr>Identify Foreign Key Relationship</vt:lpstr>
      <vt:lpstr>Data cleaning walkthrough</vt:lpstr>
      <vt:lpstr>Key Performance Indicators (KPIs)</vt:lpstr>
      <vt:lpstr>KPI Segmentation &amp; Analysis Dimensions</vt:lpstr>
      <vt:lpstr>PowerPoint Presentation</vt:lpstr>
      <vt:lpstr>PowerPoint Presentation</vt:lpstr>
      <vt:lpstr>PowerPoint Presentation</vt:lpstr>
      <vt:lpstr>PowerPoint Presentation</vt:lpstr>
      <vt:lpstr>Risks Identified</vt:lpstr>
      <vt:lpstr>STRATEGIC RECOMMENDATIONS</vt:lpstr>
      <vt:lpstr>Business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KUMAR SINGH</dc:creator>
  <cp:lastModifiedBy>MOHIT KUMAR SINGH</cp:lastModifiedBy>
  <cp:revision>11</cp:revision>
  <dcterms:created xsi:type="dcterms:W3CDTF">2026-01-01T20:10:23Z</dcterms:created>
  <dcterms:modified xsi:type="dcterms:W3CDTF">2026-03-19T17:11:32Z</dcterms:modified>
</cp:coreProperties>
</file>