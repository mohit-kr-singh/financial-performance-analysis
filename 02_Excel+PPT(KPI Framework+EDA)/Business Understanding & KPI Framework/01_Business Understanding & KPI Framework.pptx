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E67E0-AB44-EBE3-F234-205DFF07E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02B05A-9FC5-3F11-A77D-0F59E85613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304D3-9C54-533A-37EE-8313C1050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1A21D-D3D1-81FC-7EF4-4A4921000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607E9-203C-FF4B-9A68-BBBB297D1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53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3946-D540-05CF-E6CD-CBC6A7064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92EF1-B8E2-5EF7-F679-5F7D0497E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54627-B22F-D316-B18B-97FB43C0E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6ED66-83BF-924C-4363-27771EDDB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397BB-49B5-5DCC-2A3D-5A40715D2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47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23CDC-CB1A-B69C-828C-9436F3CD5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9C741-EFD8-0E63-F7FE-AAEBFEC82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0C12-583C-CC33-2D50-A031D9433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1C35A-068C-4AB6-3F39-F50CB5C0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F8F14-5D32-8C1D-E796-BF7D46C7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806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3477D-4752-4A8C-DA4F-327A126B7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DA64C-EB5C-8CDF-E1F4-1EFE41F0A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21E8A-946F-3333-7BC1-DEABD3B9A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53175-18C8-FFE6-D977-3EFDA762F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8E8CC-DF8D-DE4F-E8C7-72562EA40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F9538-A67B-1CCC-9419-67D15763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62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49708-27F4-1FA2-02AD-28BB05063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9F075-ACF9-FF62-BA4E-A80FE4C3E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CBE87-1128-4CCD-D5FA-030186C30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D137C8-97AF-BBE3-FAEA-0C6C4F1A9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056B90-DFD6-E023-D79B-243102914B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A1D57D-87D5-80EC-3A0A-1756F849D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9F79B6-1D06-07A8-B4D6-46AB2D6A5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F8382E-8858-D992-8CE6-35F38E828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47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92CD-F596-B472-6ED9-D16789ED4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E39042-2A79-5E78-15EA-80E6235EE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FC1B2F-1882-2D69-D91F-4A5FF746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F5D3A-9F64-2EB6-7A12-244AE6923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409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46F168-8CD0-11C0-CC37-B5EAFEF97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FFEC6-E2C1-DAC1-1639-C8322B0F7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4462F-F6E0-5C85-8CC4-35F6036C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57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7C250-B1A4-F943-0667-258DD2C0E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A5418-8D47-D762-C8F9-F96029508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A15BB4-0BA7-6900-ED57-309FC6AF5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CD6C7-AB85-65A3-A74E-D51C2DF18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D60C7-414D-73E6-BC3A-2D2862780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F29F5-3A42-A1FC-7147-498EBBEF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058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A72A3-97E1-4793-7F57-4610AE1DC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6B76C-159A-D7D3-436F-3D4BEDA26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121E1-9A58-5C61-9D95-8446BF6C7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3BE6B-9004-4784-7169-690FBF935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D51FC-B374-26E7-70FF-CA25411F2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F1486-0D5D-6573-BC87-41D8CCF45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971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B5DF2-6060-0398-2C24-534B8215F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3E893-F527-CF17-8CBC-BD27DCC47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A6A75-0DA5-7814-89C5-4F38DB20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DF613-B1D8-42F6-EB59-8785E9EBF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2FA61-93B0-D394-4FBE-BF4EAB23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415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FD2355-B0B9-867F-0A9D-75C99EAEC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CF0BC-00DB-5212-FF62-CE229B1A7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79E95-4AE2-C387-BECC-385E237A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AF4BD-7317-4635-AFEB-1B6F0C96D683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C5D5F-4E48-C632-7217-5F2369701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8D4F2-02C3-4747-532A-B4E04A006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579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32AA86-1C12-2A72-CE23-ADAEE338D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21A76-68FA-A37B-77C8-A301F49ED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3A8C5-B13B-0AD8-2566-D3095ADB1A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AF4BD-7317-4635-AFEB-1B6F0C96D683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149DE-56CE-947C-2343-50256EF24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59A46-7456-8FFC-2F1F-71C42B5C5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35073-40A5-49E8-9A36-C9C2E93CD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55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F8B04-AC39-A7F1-EB37-83663ABADA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Financial Performance Analysis – Business Understanding &amp; KPI Framework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1A444D-5E29-73D5-69D6-61F57D56D5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IN" b="1" dirty="0"/>
              <a:t>Capstone Project: </a:t>
            </a:r>
            <a:r>
              <a:rPr lang="en-IN" dirty="0"/>
              <a:t>Data Analytics with GenAI</a:t>
            </a:r>
          </a:p>
          <a:p>
            <a:pPr algn="l"/>
            <a:r>
              <a:rPr lang="en-IN" b="1" dirty="0"/>
              <a:t>Role: </a:t>
            </a:r>
            <a:r>
              <a:rPr lang="en-IN" dirty="0"/>
              <a:t>Financial Analytics Consultant</a:t>
            </a:r>
            <a:endParaRPr lang="en-IN" b="1" dirty="0"/>
          </a:p>
          <a:p>
            <a:pPr algn="l"/>
            <a:r>
              <a:rPr lang="en-IN" b="1" dirty="0"/>
              <a:t>Prepared by: </a:t>
            </a:r>
            <a:r>
              <a:rPr lang="en-IN" dirty="0"/>
              <a:t>Mohit Kumar Singh</a:t>
            </a:r>
            <a:endParaRPr lang="en-IN" b="1" dirty="0"/>
          </a:p>
          <a:p>
            <a:pPr algn="l"/>
            <a:r>
              <a:rPr lang="en-IN" b="1" dirty="0"/>
              <a:t>Objective: </a:t>
            </a:r>
            <a:r>
              <a:rPr lang="en-GB" dirty="0"/>
              <a:t>Transform financial data into decision-ready insights</a:t>
            </a:r>
            <a:endParaRPr lang="en-IN" b="1" dirty="0"/>
          </a:p>
          <a:p>
            <a:pPr algn="l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43016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507B6-30CD-CD51-677C-F104D8EAC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3580C-365A-7A93-4079-1FBD17473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Organizations operate in increasingly complex financial environments with large volumes of transactional data.</a:t>
            </a:r>
          </a:p>
          <a:p>
            <a:r>
              <a:rPr lang="en-GB" sz="2400" dirty="0"/>
              <a:t>Financial data is spread across multiple sources including transactions, customers, vendors, budgets, and headcount.</a:t>
            </a:r>
          </a:p>
          <a:p>
            <a:r>
              <a:rPr lang="en-GB" sz="2400" dirty="0"/>
              <a:t>Leadership teams require timely and accurate insights into revenue, expenses, profitability, and efficiency</a:t>
            </a:r>
            <a:r>
              <a:rPr lang="en-IN" sz="2400" dirty="0"/>
              <a:t>.</a:t>
            </a:r>
          </a:p>
          <a:p>
            <a:r>
              <a:rPr lang="en-GB" sz="2400" dirty="0"/>
              <a:t>Lack of consolidated financial visibility can lead to budget overruns, cost inefficiencies, and delayed decision-making.</a:t>
            </a:r>
          </a:p>
          <a:p>
            <a:r>
              <a:rPr lang="en-GB" sz="2400" dirty="0"/>
              <a:t>Financial analytics plays a critical role in improving cost control, budget adherence, and strategic planning.</a:t>
            </a:r>
          </a:p>
        </p:txBody>
      </p:sp>
    </p:spTree>
    <p:extLst>
      <p:ext uri="{BB962C8B-B14F-4D97-AF65-F5344CB8AC3E}">
        <p14:creationId xmlns:p14="http://schemas.microsoft.com/office/powerpoint/2010/main" val="1334847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268BD-80DA-2292-AC88-F09A88830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Key Business Challenges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08F8C-AFAB-ECDC-A8C6-82A68AE4F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Increasing operational and payroll costs impacting overall profitability.</a:t>
            </a:r>
          </a:p>
          <a:p>
            <a:r>
              <a:rPr lang="en-GB" sz="2400" dirty="0"/>
              <a:t>Budget overruns observed in certain business units and time periods.</a:t>
            </a:r>
          </a:p>
          <a:p>
            <a:r>
              <a:rPr lang="en-GB" sz="2400" dirty="0"/>
              <a:t>Pressure on profit margins due to rising expenses and inefficient cost control.</a:t>
            </a:r>
          </a:p>
          <a:p>
            <a:r>
              <a:rPr lang="en-GB" sz="2400" dirty="0"/>
              <a:t>High dependency on a limited number of customers or vendors, increasing financial risk.</a:t>
            </a:r>
          </a:p>
          <a:p>
            <a:r>
              <a:rPr lang="en-GB" sz="2400" dirty="0"/>
              <a:t>Limited visibility into key cost drivers and performance variations across the organization.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49083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C31B9-ADF3-F561-E3A0-DF660D34B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778A1-4605-AA59-DCFB-C3921DD52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err="1"/>
              <a:t>Analyze</a:t>
            </a:r>
            <a:r>
              <a:rPr lang="en-GB" sz="2400" dirty="0"/>
              <a:t> overall financial performance across business units and regions.</a:t>
            </a:r>
          </a:p>
          <a:p>
            <a:r>
              <a:rPr lang="en-GB" sz="2400" dirty="0"/>
              <a:t>Track key financial metrics including revenue, expenses, profit, and budget variance.</a:t>
            </a:r>
          </a:p>
          <a:p>
            <a:r>
              <a:rPr lang="en-GB" sz="2400" dirty="0"/>
              <a:t>Identify major cost drivers and areas of inefficiency.</a:t>
            </a:r>
          </a:p>
          <a:p>
            <a:r>
              <a:rPr lang="en-GB" sz="2400" dirty="0"/>
              <a:t>Detect anomalies and data quality issues affecting financial reporting.</a:t>
            </a:r>
          </a:p>
          <a:p>
            <a:r>
              <a:rPr lang="en-GB" sz="2400" dirty="0"/>
              <a:t>Provide actionable, data-driven insights to support management decision-making.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90212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012B-24F2-3F4B-488D-C053915F6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Performance Indicators (KPIs)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494FC6-3732-705F-3650-16FE7DF20F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3916893"/>
              </p:ext>
            </p:extLst>
          </p:nvPr>
        </p:nvGraphicFramePr>
        <p:xfrm>
          <a:off x="1462630" y="1809884"/>
          <a:ext cx="9266739" cy="438282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088913">
                  <a:extLst>
                    <a:ext uri="{9D8B030D-6E8A-4147-A177-3AD203B41FA5}">
                      <a16:colId xmlns:a16="http://schemas.microsoft.com/office/drawing/2014/main" val="3315526329"/>
                    </a:ext>
                  </a:extLst>
                </a:gridCol>
                <a:gridCol w="3088913">
                  <a:extLst>
                    <a:ext uri="{9D8B030D-6E8A-4147-A177-3AD203B41FA5}">
                      <a16:colId xmlns:a16="http://schemas.microsoft.com/office/drawing/2014/main" val="3489259066"/>
                    </a:ext>
                  </a:extLst>
                </a:gridCol>
                <a:gridCol w="3088913">
                  <a:extLst>
                    <a:ext uri="{9D8B030D-6E8A-4147-A177-3AD203B41FA5}">
                      <a16:colId xmlns:a16="http://schemas.microsoft.com/office/drawing/2014/main" val="634708697"/>
                    </a:ext>
                  </a:extLst>
                </a:gridCol>
              </a:tblGrid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KPI</a:t>
                      </a:r>
                      <a:endParaRPr lang="en-IN" sz="1600" dirty="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Definition</a:t>
                      </a:r>
                      <a:endParaRPr lang="en-IN" sz="16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Business Purpose</a:t>
                      </a:r>
                      <a:endParaRPr lang="en-IN" sz="1600"/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2382720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Revenue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Total value of all positive financial transactions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Measure sales and income performance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0477342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Expense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Total value of all negative financial transactions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Monitor and control costs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7316119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Profit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Revenue minus Expense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Assess overall financial health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9431702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Budget Variance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Actual performance minus budgeted targets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Identify over-spending or under-utilization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2423509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Gross Margin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Profit divided by Revenue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Measure operational efficiency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5150704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Cost per Employee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Total cost to company divided by active headcount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Evaluate workforce productivity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6893350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Revenue per Customer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Total revenue divided by number of customers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Assess customer value and concentration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7824833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Expense per Vendor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Total expenses divided by number of vendors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Analyze</a:t>
                      </a:r>
                      <a:r>
                        <a:rPr lang="en-IN" sz="1600" dirty="0"/>
                        <a:t> vendor cost efficiency</a:t>
                      </a:r>
                    </a:p>
                  </a:txBody>
                  <a:tcPr marL="80580" marR="80580" marT="40290" marB="40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0681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4160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6C76-3486-9904-C6A9-63EE00FCA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KPI Segmentation &amp; Analysis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946F6-C885-95D2-54DD-27F83885C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To enable deeper financial insights, KPIs will be </a:t>
            </a:r>
            <a:r>
              <a:rPr lang="en-GB" sz="2400" dirty="0" err="1"/>
              <a:t>analyzed</a:t>
            </a:r>
            <a:r>
              <a:rPr lang="en-GB" sz="2400" dirty="0"/>
              <a:t> across the following dimensions:</a:t>
            </a:r>
          </a:p>
          <a:p>
            <a:r>
              <a:rPr lang="en-GB" sz="2000" b="1" dirty="0"/>
              <a:t>Time Period:</a:t>
            </a:r>
            <a:r>
              <a:rPr lang="en-GB" sz="2000" dirty="0"/>
              <a:t> Monthly, Quarterly, and Yearly trends</a:t>
            </a:r>
          </a:p>
          <a:p>
            <a:r>
              <a:rPr lang="en-GB" sz="2000" b="1" dirty="0"/>
              <a:t>Business Unit / Department:</a:t>
            </a:r>
            <a:r>
              <a:rPr lang="en-GB" sz="2000" dirty="0"/>
              <a:t> Performance comparison across units</a:t>
            </a:r>
          </a:p>
          <a:p>
            <a:r>
              <a:rPr lang="en-GB" sz="2000" b="1" dirty="0"/>
              <a:t>Region:</a:t>
            </a:r>
            <a:r>
              <a:rPr lang="en-GB" sz="2000" dirty="0"/>
              <a:t> Geographic analysis of revenue and expenses</a:t>
            </a:r>
          </a:p>
          <a:p>
            <a:r>
              <a:rPr lang="en-GB" sz="2000" b="1" dirty="0"/>
              <a:t>Customer Segment:</a:t>
            </a:r>
            <a:r>
              <a:rPr lang="en-GB" sz="2000" dirty="0"/>
              <a:t> Revenue contribution by customer type</a:t>
            </a:r>
          </a:p>
          <a:p>
            <a:r>
              <a:rPr lang="en-GB" sz="2000" b="1" dirty="0"/>
              <a:t>Vendor Category:</a:t>
            </a:r>
            <a:r>
              <a:rPr lang="en-GB" sz="2000" dirty="0"/>
              <a:t> Expense distribution across vendor types</a:t>
            </a:r>
          </a:p>
          <a:p>
            <a:pPr marL="0" indent="0">
              <a:buNone/>
            </a:pPr>
            <a:r>
              <a:rPr lang="en-GB" sz="2400" dirty="0"/>
              <a:t>This segmentation helps identify performance variations, inefficiencies, and cost drivers.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74087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43F88-0D96-34C3-ACDC-A76FEF793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Business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1D9C2-4A00-013B-9B81-ACCC4D994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3316583"/>
          </a:xfrm>
        </p:spPr>
        <p:txBody>
          <a:bodyPr/>
          <a:lstStyle/>
          <a:p>
            <a:r>
              <a:rPr lang="en-GB" sz="2400" dirty="0"/>
              <a:t>Are revenue and expenses aligned with budgeted targets over time?</a:t>
            </a:r>
          </a:p>
          <a:p>
            <a:r>
              <a:rPr lang="en-GB" sz="2400" dirty="0"/>
              <a:t>Which business units consistently exceed or underutilize their budgets?</a:t>
            </a:r>
          </a:p>
          <a:p>
            <a:r>
              <a:rPr lang="en-GB" sz="2400" dirty="0"/>
              <a:t>Which customers contribute the highest share of total revenue?</a:t>
            </a:r>
          </a:p>
          <a:p>
            <a:r>
              <a:rPr lang="en-GB" sz="2400" dirty="0"/>
              <a:t>Which vendors account for the largest proportion of expenses?</a:t>
            </a:r>
          </a:p>
          <a:p>
            <a:r>
              <a:rPr lang="en-GB" sz="2400" dirty="0"/>
              <a:t>How does cost per employee vary across business units and regions?</a:t>
            </a:r>
          </a:p>
          <a:p>
            <a:r>
              <a:rPr lang="en-GB" sz="2400" dirty="0"/>
              <a:t>Are there any anomalies or unusual trends impacting financial performance?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8438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5D81-D175-0460-A2C9-AC1E77CD2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Deliverable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63F342-E8B7-DAA8-4D6C-2024FD6679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4117" y="1927175"/>
            <a:ext cx="1054968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Established the business context and key financial challenges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Defined a structured KPI framework aligned with business objectives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Identified key analysis dimensions and guiding business questions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Created a strong foundation for data validation, analysis, and dashboarding</a:t>
            </a:r>
          </a:p>
        </p:txBody>
      </p:sp>
    </p:spTree>
    <p:extLst>
      <p:ext uri="{BB962C8B-B14F-4D97-AF65-F5344CB8AC3E}">
        <p14:creationId xmlns:p14="http://schemas.microsoft.com/office/powerpoint/2010/main" val="3712480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537</Words>
  <Application>Microsoft Office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Financial Performance Analysis – Business Understanding &amp; KPI Framework</vt:lpstr>
      <vt:lpstr>Business Context</vt:lpstr>
      <vt:lpstr> Key Business Challenges </vt:lpstr>
      <vt:lpstr>Project Objectives</vt:lpstr>
      <vt:lpstr>Key Performance Indicators (KPIs)</vt:lpstr>
      <vt:lpstr>KPI Segmentation &amp; Analysis Dimensions</vt:lpstr>
      <vt:lpstr>Key Business Questions</vt:lpstr>
      <vt:lpstr>Deliverable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MOHIT KUMAR SINGH</dc:creator>
  <cp:lastModifiedBy>MOHIT KUMAR SINGH</cp:lastModifiedBy>
  <cp:revision>3</cp:revision>
  <dcterms:created xsi:type="dcterms:W3CDTF">2026-01-01T20:10:23Z</dcterms:created>
  <dcterms:modified xsi:type="dcterms:W3CDTF">2026-01-02T14:46:38Z</dcterms:modified>
</cp:coreProperties>
</file>