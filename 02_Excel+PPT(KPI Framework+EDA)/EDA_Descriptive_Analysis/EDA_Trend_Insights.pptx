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E:\7_Capstone_project\project\DELIVERABLE%203\financial_data_clean(online%20excel)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E:\7_Capstone_project\project\DELIVERABLE%203\financial_data_clean(online%20excel)1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E:\7_Capstone_project\project\DELIVERABLE%203\financial_data_clean(online%20excel)1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E:\7_Capstone_project\project\DELIVERABLE%203\financial_data_clean(online%20excel)1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baseline="0"/>
              <a:t>Monthly Revenue Trend (2022–2023)</a:t>
            </a:r>
            <a:endParaRPr lang="en-IN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v>Total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Lit>
              <c:ptCount val="12"/>
              <c:pt idx="0">
                <c:v>January</c:v>
              </c:pt>
              <c:pt idx="1">
                <c:v>February</c:v>
              </c:pt>
              <c:pt idx="2">
                <c:v>March</c:v>
              </c:pt>
              <c:pt idx="3">
                <c:v>April</c:v>
              </c:pt>
              <c:pt idx="4">
                <c:v>May</c:v>
              </c:pt>
              <c:pt idx="5">
                <c:v>June</c:v>
              </c:pt>
              <c:pt idx="6">
                <c:v>July</c:v>
              </c:pt>
              <c:pt idx="7">
                <c:v>August</c:v>
              </c:pt>
              <c:pt idx="8">
                <c:v>September</c:v>
              </c:pt>
              <c:pt idx="9">
                <c:v>October</c:v>
              </c:pt>
              <c:pt idx="10">
                <c:v>November</c:v>
              </c:pt>
              <c:pt idx="11">
                <c:v>December</c:v>
              </c:pt>
            </c:strLit>
          </c:cat>
          <c:val>
            <c:numLit>
              <c:formatCode>General</c:formatCode>
              <c:ptCount val="12"/>
              <c:pt idx="0">
                <c:v>31802723.090000004</c:v>
              </c:pt>
              <c:pt idx="1">
                <c:v>26423671.145000007</c:v>
              </c:pt>
              <c:pt idx="2">
                <c:v>29896004.400000006</c:v>
              </c:pt>
              <c:pt idx="3">
                <c:v>32497606.415000021</c:v>
              </c:pt>
              <c:pt idx="4">
                <c:v>32996454.76000002</c:v>
              </c:pt>
              <c:pt idx="5">
                <c:v>35871884.039999992</c:v>
              </c:pt>
              <c:pt idx="6">
                <c:v>32997748.525000002</c:v>
              </c:pt>
              <c:pt idx="7">
                <c:v>42494303.655000016</c:v>
              </c:pt>
              <c:pt idx="8">
                <c:v>41275544.370000005</c:v>
              </c:pt>
              <c:pt idx="9">
                <c:v>41380690.480000004</c:v>
              </c:pt>
              <c:pt idx="10">
                <c:v>41266842.44500003</c:v>
              </c:pt>
              <c:pt idx="11">
                <c:v>43400822.775000006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717F-4524-BCF3-AC3F90B86F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55347119"/>
        <c:axId val="1055338479"/>
      </c:lineChart>
      <c:catAx>
        <c:axId val="105534711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="1"/>
                  <a:t>Months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55338479"/>
        <c:crosses val="autoZero"/>
        <c:auto val="1"/>
        <c:lblAlgn val="ctr"/>
        <c:lblOffset val="100"/>
        <c:noMultiLvlLbl val="0"/>
      </c:catAx>
      <c:valAx>
        <c:axId val="1055338479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="1"/>
                  <a:t>Revenue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&quot;₹&quot;\ #,##0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553471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baseline="0"/>
              <a:t>Monthly Expense Trend (2022–2023)</a:t>
            </a:r>
            <a:endParaRPr lang="en-IN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21519850274797761"/>
          <c:y val="0.15311933473609482"/>
          <c:w val="0.76325870946827201"/>
          <c:h val="0.55897660608657185"/>
        </c:manualLayout>
      </c:layout>
      <c:lineChart>
        <c:grouping val="standard"/>
        <c:varyColors val="0"/>
        <c:ser>
          <c:idx val="0"/>
          <c:order val="0"/>
          <c:tx>
            <c:v>Total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Lit>
              <c:ptCount val="12"/>
              <c:pt idx="0">
                <c:v>January</c:v>
              </c:pt>
              <c:pt idx="1">
                <c:v>February</c:v>
              </c:pt>
              <c:pt idx="2">
                <c:v>March</c:v>
              </c:pt>
              <c:pt idx="3">
                <c:v>April</c:v>
              </c:pt>
              <c:pt idx="4">
                <c:v>May</c:v>
              </c:pt>
              <c:pt idx="5">
                <c:v>June</c:v>
              </c:pt>
              <c:pt idx="6">
                <c:v>July</c:v>
              </c:pt>
              <c:pt idx="7">
                <c:v>August</c:v>
              </c:pt>
              <c:pt idx="8">
                <c:v>September</c:v>
              </c:pt>
              <c:pt idx="9">
                <c:v>October</c:v>
              </c:pt>
              <c:pt idx="10">
                <c:v>November</c:v>
              </c:pt>
              <c:pt idx="11">
                <c:v>December</c:v>
              </c:pt>
            </c:strLit>
          </c:cat>
          <c:val>
            <c:numLit>
              <c:formatCode>General</c:formatCode>
              <c:ptCount val="12"/>
              <c:pt idx="0">
                <c:v>14539131.259999998</c:v>
              </c:pt>
              <c:pt idx="1">
                <c:v>12407222.779999997</c:v>
              </c:pt>
              <c:pt idx="2">
                <c:v>14322308.620000001</c:v>
              </c:pt>
              <c:pt idx="3">
                <c:v>15970001.700000005</c:v>
              </c:pt>
              <c:pt idx="4">
                <c:v>14410391.410000004</c:v>
              </c:pt>
              <c:pt idx="5">
                <c:v>13359063.760000002</c:v>
              </c:pt>
              <c:pt idx="6">
                <c:v>13988488.120000001</c:v>
              </c:pt>
              <c:pt idx="7">
                <c:v>14176982.459999999</c:v>
              </c:pt>
              <c:pt idx="8">
                <c:v>12811803.849999998</c:v>
              </c:pt>
              <c:pt idx="9">
                <c:v>14147009.389999993</c:v>
              </c:pt>
              <c:pt idx="10">
                <c:v>13804849.549999997</c:v>
              </c:pt>
              <c:pt idx="11">
                <c:v>13804046.899999995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CF21-4950-AC0D-F5E83C3E9F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88621119"/>
        <c:axId val="988622559"/>
      </c:lineChart>
      <c:catAx>
        <c:axId val="98862111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/>
                  <a:t>Months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8622559"/>
        <c:crosses val="autoZero"/>
        <c:auto val="1"/>
        <c:lblAlgn val="ctr"/>
        <c:lblOffset val="100"/>
        <c:noMultiLvlLbl val="0"/>
      </c:catAx>
      <c:valAx>
        <c:axId val="988622559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/>
                  <a:t>Expense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_(&quot;₹&quot;* #,##0_);_(&quot;₹&quot;* \(#,##0\);_(&quot;₹&quot;* &quot;-&quot;_);_(@_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86211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baseline="0"/>
              <a:t>Monthly Profit Trend (2022–2023)</a:t>
            </a:r>
            <a:endParaRPr lang="en-IN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v>Total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Lit>
              <c:ptCount val="12"/>
              <c:pt idx="0">
                <c:v>January</c:v>
              </c:pt>
              <c:pt idx="1">
                <c:v>February</c:v>
              </c:pt>
              <c:pt idx="2">
                <c:v>March</c:v>
              </c:pt>
              <c:pt idx="3">
                <c:v>April</c:v>
              </c:pt>
              <c:pt idx="4">
                <c:v>May</c:v>
              </c:pt>
              <c:pt idx="5">
                <c:v>June</c:v>
              </c:pt>
              <c:pt idx="6">
                <c:v>July</c:v>
              </c:pt>
              <c:pt idx="7">
                <c:v>August</c:v>
              </c:pt>
              <c:pt idx="8">
                <c:v>September</c:v>
              </c:pt>
              <c:pt idx="9">
                <c:v>October</c:v>
              </c:pt>
              <c:pt idx="10">
                <c:v>November</c:v>
              </c:pt>
              <c:pt idx="11">
                <c:v>December</c:v>
              </c:pt>
            </c:strLit>
          </c:cat>
          <c:val>
            <c:numLit>
              <c:formatCode>General</c:formatCode>
              <c:ptCount val="12"/>
              <c:pt idx="0">
                <c:v>39072288.720000006</c:v>
              </c:pt>
              <c:pt idx="1">
                <c:v>32627282.535000008</c:v>
              </c:pt>
              <c:pt idx="2">
                <c:v>37057158.710000008</c:v>
              </c:pt>
              <c:pt idx="3">
                <c:v>40482607.265000023</c:v>
              </c:pt>
              <c:pt idx="4">
                <c:v>40201650.465000018</c:v>
              </c:pt>
              <c:pt idx="5">
                <c:v>42551415.919999987</c:v>
              </c:pt>
              <c:pt idx="6">
                <c:v>39991992.585000001</c:v>
              </c:pt>
              <c:pt idx="7">
                <c:v>49582794.885000013</c:v>
              </c:pt>
              <c:pt idx="8">
                <c:v>47681446.295000002</c:v>
              </c:pt>
              <c:pt idx="9">
                <c:v>48454195.174999997</c:v>
              </c:pt>
              <c:pt idx="10">
                <c:v>48169267.220000029</c:v>
              </c:pt>
              <c:pt idx="11">
                <c:v>50302846.225000001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192E-4276-8468-D981C4B47B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07883743"/>
        <c:axId val="1107889023"/>
      </c:lineChart>
      <c:catAx>
        <c:axId val="110788374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/>
                  <a:t>Months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07889023"/>
        <c:crosses val="autoZero"/>
        <c:auto val="1"/>
        <c:lblAlgn val="ctr"/>
        <c:lblOffset val="100"/>
        <c:noMultiLvlLbl val="0"/>
      </c:catAx>
      <c:valAx>
        <c:axId val="1107889023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/>
                  <a:t>Profit</a:t>
                </a:r>
              </a:p>
            </c:rich>
          </c:tx>
          <c:layout>
            <c:manualLayout>
              <c:xMode val="edge"/>
              <c:yMode val="edge"/>
              <c:x val="2.5000000000000001E-2"/>
              <c:y val="0.348914771070282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&quot;₹&quot;\ 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07883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baseline="0"/>
              <a:t>Monthly Budget Variance Trend (2022–2023)</a:t>
            </a:r>
            <a:endParaRPr lang="en-IN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v>Total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Lit>
              <c:ptCount val="12"/>
              <c:pt idx="0">
                <c:v>January</c:v>
              </c:pt>
              <c:pt idx="1">
                <c:v>February</c:v>
              </c:pt>
              <c:pt idx="2">
                <c:v>March</c:v>
              </c:pt>
              <c:pt idx="3">
                <c:v>April</c:v>
              </c:pt>
              <c:pt idx="4">
                <c:v>May</c:v>
              </c:pt>
              <c:pt idx="5">
                <c:v>June</c:v>
              </c:pt>
              <c:pt idx="6">
                <c:v>July</c:v>
              </c:pt>
              <c:pt idx="7">
                <c:v>August</c:v>
              </c:pt>
              <c:pt idx="8">
                <c:v>September</c:v>
              </c:pt>
              <c:pt idx="9">
                <c:v>October</c:v>
              </c:pt>
              <c:pt idx="10">
                <c:v>November</c:v>
              </c:pt>
              <c:pt idx="11">
                <c:v>December</c:v>
              </c:pt>
            </c:strLit>
          </c:cat>
          <c:val>
            <c:numLit>
              <c:formatCode>General</c:formatCode>
              <c:ptCount val="12"/>
              <c:pt idx="0">
                <c:v>41830470.479999989</c:v>
              </c:pt>
              <c:pt idx="1">
                <c:v>33207349.619999997</c:v>
              </c:pt>
              <c:pt idx="2">
                <c:v>38692960.18</c:v>
              </c:pt>
              <c:pt idx="3">
                <c:v>43197963.089999996</c:v>
              </c:pt>
              <c:pt idx="4">
                <c:v>44505795.669999994</c:v>
              </c:pt>
              <c:pt idx="5">
                <c:v>50152491.900000013</c:v>
              </c:pt>
              <c:pt idx="6">
                <c:v>44279710.200000003</c:v>
              </c:pt>
              <c:pt idx="7">
                <c:v>62792129.440000005</c:v>
              </c:pt>
              <c:pt idx="8">
                <c:v>61420109.280000001</c:v>
              </c:pt>
              <c:pt idx="9">
                <c:v>61240564.860000007</c:v>
              </c:pt>
              <c:pt idx="10">
                <c:v>61234004.039999992</c:v>
              </c:pt>
              <c:pt idx="11">
                <c:v>65130616.469999991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4EA5-4BBD-85E1-A43D1BC11A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07899103"/>
        <c:axId val="1107899583"/>
      </c:lineChart>
      <c:catAx>
        <c:axId val="110789910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/>
                  <a:t>Months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07899583"/>
        <c:crosses val="autoZero"/>
        <c:auto val="1"/>
        <c:lblAlgn val="ctr"/>
        <c:lblOffset val="100"/>
        <c:noMultiLvlLbl val="0"/>
      </c:catAx>
      <c:valAx>
        <c:axId val="1107899583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/>
                  <a:t>BUDEGT</a:t>
                </a:r>
                <a:r>
                  <a:rPr lang="en-IN" b="1" baseline="0"/>
                  <a:t> VARIANCE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&quot;₹&quot;\ #,##0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078991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F8540-924E-C728-E4FE-FFE4F30761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3EC06A-A9E5-4923-05B0-884C685EBD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C154A4-361B-12FC-B44D-9E00E4AFF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72CC2-1A7C-4C88-AB11-C21C9C5FFC40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AAC83-F9DE-C5AE-D284-09AE3AEBF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65CCED-7854-63FB-7C63-7312447EF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7869A-AAB6-41A6-9B0A-78221545DF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4852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34A68-B03A-0B9A-9CB8-2D35F322D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2E8CEA-9D92-5E75-2F7C-6A4351A5F6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481F6-FAC3-62A6-40A8-C27DA9ECB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72CC2-1A7C-4C88-AB11-C21C9C5FFC40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68C6A8-2488-C794-38D1-33E35D6FD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009D5E-9254-33D8-8B5B-B92ECF357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7869A-AAB6-41A6-9B0A-78221545DF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8475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0146C-76A8-3565-2665-70CD8AD34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2C8C25-2D29-4040-CE69-13B99AE62B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40AD5-6E80-3D32-1D8C-BF14D8C50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72CC2-1A7C-4C88-AB11-C21C9C5FFC40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FA20F1-50FF-DABE-9A71-075ECEE2F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AD9619-6590-ADAE-2CA1-E5E7FE140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7869A-AAB6-41A6-9B0A-78221545DF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2154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B9277-8FB6-6F5A-87F3-7E03D7FB1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41608-845C-5B46-ACE3-120D62ACF5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F129A4-D1F9-7105-1AC3-0ED2C6B74D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844ED0-3AE2-4926-EBD2-0BD3DD93A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72CC2-1A7C-4C88-AB11-C21C9C5FFC40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08D53D-09AF-D69E-F1C7-68A4CC163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98808-58B1-3196-73B6-65D625FA3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7869A-AAB6-41A6-9B0A-78221545DF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4253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382A3-8F91-7D69-3C66-D1DE46AB3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A6B644-C81B-A244-6890-7C1F2D4F31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4CD377-FAD6-CEED-BB01-A69E1BE2C1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9665F5-C97D-D549-09BB-3F30FB6FB0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67E11C-9801-2EB9-867B-6F51ED828D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251B18-F31A-3230-EE26-CF3E14D80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72CC2-1A7C-4C88-AB11-C21C9C5FFC40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88BF0F-FB58-05FA-61E0-6CE6B1226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6C48AB-7889-B1D6-1059-D47C77AB4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7869A-AAB6-41A6-9B0A-78221545DF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5818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B2387-D3E7-74B7-D44C-C86F1024C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FEFE70-DC88-F5B1-4E6B-4C6CEC615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72CC2-1A7C-4C88-AB11-C21C9C5FFC40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7BD9A9-F14F-9A2B-E1CC-6B8770C59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605BA1-1A53-90F3-4B4F-86C7D1778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7869A-AAB6-41A6-9B0A-78221545DF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4091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D38DF8-EA4E-CEB8-874F-2B3374441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72CC2-1A7C-4C88-AB11-C21C9C5FFC40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73E34B-A601-C966-2B4B-F11FE9D6E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9EBF68-59E8-FC38-88CF-85FB1211F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7869A-AAB6-41A6-9B0A-78221545DF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7906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73E52-9000-F8AC-BF31-B7D09AC86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AD7C8-C761-BE80-C99F-5DDFA04CD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ECC158-3B9E-2F7E-916E-437E3A52C4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0E1825-CD95-58DE-9F09-7305F3B01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72CC2-1A7C-4C88-AB11-C21C9C5FFC40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A9A309-3E94-D946-8DD3-ACCED02BB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BEE1E8-7ADC-5DD0-5FDE-33C60DEE9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7869A-AAB6-41A6-9B0A-78221545DF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1627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BBCEE-0950-F8C9-229F-D91A66137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BC768C-4946-CC01-32A1-B3CA64B3F2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85794D-83EF-9646-93B3-F97A2177BC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57A41B-D55F-67C5-267A-BB4CF4018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72CC2-1A7C-4C88-AB11-C21C9C5FFC40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4A230-AF84-6BE5-13B2-106B35B73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4A4664-4E39-9E67-B4C8-7BAC44F59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7869A-AAB6-41A6-9B0A-78221545DF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5843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BD3EA-3027-DE3B-BFFE-72DE2BBEA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8BD07F-1593-6926-B54F-A70C5C40F0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B2CF8A-CC04-E119-DD61-F52621248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72CC2-1A7C-4C88-AB11-C21C9C5FFC40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177F93-EE4A-05E7-22C6-313CC6802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2085D-89A7-29F9-0377-4BAA85DA6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7869A-AAB6-41A6-9B0A-78221545DF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4380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9FDFDA-6315-BA10-110B-4FB10D61FE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D0C2DF-89FE-0479-5D90-77675A615A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4CCD6-4F79-842B-7133-71F1DB13F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72CC2-1A7C-4C88-AB11-C21C9C5FFC40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B7A0CA-2B66-F1B1-22BF-AE728B668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05EE61-E2B4-8887-3468-D829E98BC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7869A-AAB6-41A6-9B0A-78221545DF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908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2C1EAA-0E38-F394-CB6A-720D7C639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574703-0009-4B51-E805-965AA8439A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0D29A9-017C-11AE-441A-BA0E67C93D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A72CC2-1A7C-4C88-AB11-C21C9C5FFC40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8A0E6D-9B97-780F-5361-F352CED626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9473A-A123-9DDB-F200-AC5C753492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A7869A-AAB6-41A6-9B0A-78221545DF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8968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AF83A-63C8-4210-8223-85A017479D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/>
              <a:t>EDA — Time Series &amp; Trend Insights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2D584E-AD51-B250-3597-EF57071ACB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5464" y="3677452"/>
            <a:ext cx="9144000" cy="1655762"/>
          </a:xfrm>
        </p:spPr>
        <p:txBody>
          <a:bodyPr>
            <a:normAutofit lnSpcReduction="10000"/>
          </a:bodyPr>
          <a:lstStyle/>
          <a:p>
            <a:pPr algn="l"/>
            <a:r>
              <a:rPr lang="en-GB" b="1" dirty="0"/>
              <a:t>Financial Performance Analysis (2022–2023)</a:t>
            </a:r>
            <a:endParaRPr lang="en-GB" dirty="0"/>
          </a:p>
          <a:p>
            <a:pPr algn="l"/>
            <a:r>
              <a:rPr lang="en-GB" b="1" dirty="0"/>
              <a:t>Objective: </a:t>
            </a:r>
            <a:r>
              <a:rPr lang="en-GB" dirty="0"/>
              <a:t>Translate monthly trends in Revenue, Expense, Profit, and Budget Variance into business insights and risks.</a:t>
            </a:r>
          </a:p>
          <a:p>
            <a:pPr algn="l"/>
            <a:r>
              <a:rPr lang="en-GB" b="1" dirty="0"/>
              <a:t>Prepared by:</a:t>
            </a:r>
            <a:r>
              <a:rPr lang="en-GB" dirty="0"/>
              <a:t> Mohit Kumar Singh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4528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E4102-48B6-50EE-18A9-5F6CB4ADC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Revenue Trend — 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1A13C-4375-22D8-4387-FDEA3431AD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67573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b="1" dirty="0"/>
              <a:t>What We Observed</a:t>
            </a:r>
            <a:endParaRPr lang="en-GB" dirty="0"/>
          </a:p>
          <a:p>
            <a:r>
              <a:rPr lang="en-GB" sz="2000" dirty="0"/>
              <a:t>Revenue shows an overall upward trend across 2022–2023</a:t>
            </a:r>
          </a:p>
          <a:p>
            <a:r>
              <a:rPr lang="en-GB" sz="2000" dirty="0"/>
              <a:t>Growth is uneven with sharp increases in select months</a:t>
            </a:r>
          </a:p>
          <a:p>
            <a:r>
              <a:rPr lang="en-GB" sz="2000" dirty="0"/>
              <a:t>Later months consistently outperform early months</a:t>
            </a:r>
          </a:p>
          <a:p>
            <a:pPr marL="0" indent="0">
              <a:buNone/>
            </a:pPr>
            <a:r>
              <a:rPr lang="en-GB" b="1" dirty="0"/>
              <a:t>Business Insight</a:t>
            </a:r>
            <a:endParaRPr lang="en-GB" dirty="0"/>
          </a:p>
          <a:p>
            <a:r>
              <a:rPr lang="en-GB" sz="2000" dirty="0"/>
              <a:t>Revenue growth is driven by a limited number of high-performing months.</a:t>
            </a:r>
          </a:p>
          <a:p>
            <a:r>
              <a:rPr lang="en-GB" sz="2000" dirty="0"/>
              <a:t>Indicates revenue concentration risk, rather than stable recurring income.</a:t>
            </a:r>
          </a:p>
          <a:p>
            <a:r>
              <a:rPr lang="en-GB" sz="2000" dirty="0"/>
              <a:t>Business may be dependent on seasonal demand or large transactions.</a:t>
            </a:r>
          </a:p>
          <a:p>
            <a:pPr marL="0" indent="0">
              <a:buNone/>
            </a:pPr>
            <a:r>
              <a:rPr lang="en-IN" b="1" dirty="0"/>
              <a:t>Risk / Implication</a:t>
            </a:r>
            <a:r>
              <a:rPr lang="en-IN" sz="2000" dirty="0">
                <a:effectLst/>
              </a:rPr>
              <a:t> </a:t>
            </a:r>
          </a:p>
          <a:p>
            <a:r>
              <a:rPr lang="en-GB" sz="2000" dirty="0"/>
              <a:t>High dependency on a few periods/customers increases revenue concentration risk</a:t>
            </a:r>
          </a:p>
          <a:p>
            <a:endParaRPr lang="en-IN" sz="2000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E704EDF0-A75F-4FAD-8C1A-0E9163967DB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21272515"/>
              </p:ext>
            </p:extLst>
          </p:nvPr>
        </p:nvGraphicFramePr>
        <p:xfrm>
          <a:off x="6815579" y="1825625"/>
          <a:ext cx="5090475" cy="34345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59850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A2026-5638-481A-0C21-4132543F0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Expense Trend — 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4A2E4-32D6-6CCA-A151-9EC152DDC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35977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What We Observed</a:t>
            </a:r>
          </a:p>
          <a:p>
            <a:r>
              <a:rPr lang="en-GB" sz="2000" dirty="0"/>
              <a:t>Expenses remain relatively stable month-over-month.</a:t>
            </a:r>
          </a:p>
          <a:p>
            <a:r>
              <a:rPr lang="en-GB" sz="2000" dirty="0"/>
              <a:t>Minor spikes appear, but no extreme cost surges.</a:t>
            </a:r>
          </a:p>
          <a:p>
            <a:r>
              <a:rPr lang="en-GB" sz="2000" dirty="0"/>
              <a:t>Expense trend is flatter compared to revenue trend.</a:t>
            </a:r>
          </a:p>
          <a:p>
            <a:pPr marL="0" indent="0">
              <a:buNone/>
            </a:pPr>
            <a:r>
              <a:rPr lang="en-IN" b="1" dirty="0"/>
              <a:t>Business Insight</a:t>
            </a:r>
          </a:p>
          <a:p>
            <a:r>
              <a:rPr lang="en-GB" sz="2000" dirty="0"/>
              <a:t>Indicates controlled cost structure.</a:t>
            </a:r>
          </a:p>
          <a:p>
            <a:r>
              <a:rPr lang="en-GB" sz="2000" dirty="0"/>
              <a:t>Expenses do not scale proportionally with revenue growth.</a:t>
            </a:r>
          </a:p>
          <a:p>
            <a:pPr marL="0" indent="0">
              <a:buNone/>
            </a:pPr>
            <a:r>
              <a:rPr lang="en-IN" b="1" dirty="0"/>
              <a:t>Operating leverage opportunity</a:t>
            </a:r>
          </a:p>
          <a:p>
            <a:r>
              <a:rPr lang="en-GB" sz="2000" dirty="0"/>
              <a:t>Stable costs + growing revenue → potential margin expansion if revenue becomes consistent.</a:t>
            </a:r>
            <a:endParaRPr lang="en-IN" sz="2000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4AFD681B-78C8-4B1C-9E93-836A389EFC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26146657"/>
              </p:ext>
            </p:extLst>
          </p:nvPr>
        </p:nvGraphicFramePr>
        <p:xfrm>
          <a:off x="6345810" y="1825625"/>
          <a:ext cx="5305720" cy="30763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8961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FC596-E0E4-7590-03E8-AFC506EA6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Profit Trend — 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E950F-68BE-BF67-66D8-AF12669603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72328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What We Observed</a:t>
            </a:r>
          </a:p>
          <a:p>
            <a:r>
              <a:rPr lang="en-GB" sz="2000" dirty="0"/>
              <a:t>Profit trend is volatile, fluctuating across months.</a:t>
            </a:r>
          </a:p>
          <a:p>
            <a:r>
              <a:rPr lang="en-GB" sz="2000" dirty="0"/>
              <a:t>Some months show noticeably lower profitability.</a:t>
            </a:r>
          </a:p>
          <a:p>
            <a:r>
              <a:rPr lang="en-GB" sz="2000" dirty="0"/>
              <a:t>Profit does not increase linearly with revenue.</a:t>
            </a:r>
            <a:r>
              <a:rPr lang="en-GB" sz="2000" dirty="0">
                <a:effectLst/>
              </a:rPr>
              <a:t> </a:t>
            </a:r>
            <a:endParaRPr lang="en-GB" sz="2000" dirty="0"/>
          </a:p>
          <a:p>
            <a:pPr marL="0" indent="0">
              <a:buNone/>
            </a:pPr>
            <a:r>
              <a:rPr lang="en-GB" b="1" dirty="0"/>
              <a:t>Business Insight</a:t>
            </a:r>
          </a:p>
          <a:p>
            <a:r>
              <a:rPr lang="en-GB" sz="2000" dirty="0"/>
              <a:t>Profitability is sensitive to revenue fluctuations.</a:t>
            </a:r>
          </a:p>
          <a:p>
            <a:r>
              <a:rPr lang="en-GB" sz="2000" dirty="0"/>
              <a:t>High expenses during moderate-revenue months compress margins.</a:t>
            </a:r>
            <a:r>
              <a:rPr lang="en-GB" sz="2000" dirty="0">
                <a:effectLst/>
              </a:rPr>
              <a:t> </a:t>
            </a:r>
            <a:endParaRPr lang="en-GB" sz="2000" dirty="0"/>
          </a:p>
          <a:p>
            <a:pPr marL="0" indent="0">
              <a:buNone/>
            </a:pPr>
            <a:r>
              <a:rPr lang="en-GB" b="1" dirty="0"/>
              <a:t>Risk Identified</a:t>
            </a:r>
            <a:endParaRPr lang="en-GB" dirty="0"/>
          </a:p>
          <a:p>
            <a:r>
              <a:rPr lang="en-GB" sz="2000" dirty="0"/>
              <a:t>Margin instability risk as inconsistent profit makes forecasting and long-term planning difficult.</a:t>
            </a:r>
            <a:endParaRPr lang="en-IN" sz="2000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2B7BE60C-30E8-4B3D-A887-827D885B73D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12579427"/>
              </p:ext>
            </p:extLst>
          </p:nvPr>
        </p:nvGraphicFramePr>
        <p:xfrm>
          <a:off x="6274340" y="1922643"/>
          <a:ext cx="5346971" cy="36610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37654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97ADE-BD16-650F-42A4-990C56FD7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Budget Variance — 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9E33C-F72A-A982-D183-84F00B7ACD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39255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What We Observed</a:t>
            </a:r>
          </a:p>
          <a:p>
            <a:r>
              <a:rPr lang="en-GB" sz="2000" dirty="0"/>
              <a:t>Budget variance is predominantly positive.</a:t>
            </a:r>
          </a:p>
          <a:p>
            <a:r>
              <a:rPr lang="en-GB" sz="2000" dirty="0"/>
              <a:t>Overspending occurs in most months.</a:t>
            </a:r>
          </a:p>
          <a:p>
            <a:r>
              <a:rPr lang="en-GB" sz="2000" dirty="0"/>
              <a:t>Variance magnitude increases in later periods</a:t>
            </a:r>
            <a:r>
              <a:rPr lang="en-GB" dirty="0"/>
              <a:t>.</a:t>
            </a:r>
            <a:r>
              <a:rPr lang="en-GB" sz="2000" dirty="0">
                <a:effectLst/>
              </a:rPr>
              <a:t> </a:t>
            </a:r>
            <a:endParaRPr lang="en-GB" sz="2000" dirty="0"/>
          </a:p>
          <a:p>
            <a:pPr marL="0" indent="0">
              <a:buNone/>
            </a:pPr>
            <a:r>
              <a:rPr lang="en-GB" b="1" dirty="0"/>
              <a:t>Business Insight</a:t>
            </a:r>
          </a:p>
          <a:p>
            <a:r>
              <a:rPr lang="en-GB" sz="2000" dirty="0"/>
              <a:t>Budgets are not realistically aligned with actual cost </a:t>
            </a:r>
            <a:r>
              <a:rPr lang="en-GB" sz="2000" dirty="0" err="1"/>
              <a:t>behavior</a:t>
            </a:r>
            <a:r>
              <a:rPr lang="en-GB" sz="2000" dirty="0"/>
              <a:t>.</a:t>
            </a:r>
          </a:p>
          <a:p>
            <a:r>
              <a:rPr lang="en-GB" sz="2000" dirty="0"/>
              <a:t>Weak monitoring or delayed corrective actions.</a:t>
            </a:r>
            <a:r>
              <a:rPr lang="en-GB" sz="2000" dirty="0">
                <a:effectLst/>
              </a:rPr>
              <a:t> </a:t>
            </a:r>
            <a:endParaRPr lang="en-GB" sz="2000" dirty="0"/>
          </a:p>
          <a:p>
            <a:pPr marL="0" indent="0">
              <a:buNone/>
            </a:pPr>
            <a:r>
              <a:rPr lang="en-GB" b="1" dirty="0"/>
              <a:t>Risk Identified</a:t>
            </a:r>
          </a:p>
          <a:p>
            <a:r>
              <a:rPr lang="en-GB" sz="2000" dirty="0"/>
              <a:t>Weak budget discipline may lead to cash flow stress and inefficient resource allocation</a:t>
            </a:r>
            <a:r>
              <a:rPr lang="en-GB" sz="2000" dirty="0">
                <a:effectLst/>
              </a:rPr>
              <a:t> </a:t>
            </a:r>
            <a:endParaRPr lang="en-GB" sz="2000" dirty="0"/>
          </a:p>
          <a:p>
            <a:endParaRPr lang="en-IN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474F98B-760C-47B3-9B62-5C36776F846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0369487"/>
              </p:ext>
            </p:extLst>
          </p:nvPr>
        </p:nvGraphicFramePr>
        <p:xfrm>
          <a:off x="6271098" y="1942358"/>
          <a:ext cx="5635557" cy="33447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81142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36EB0-21B4-E619-8BBB-E439127BE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GB" b="1" dirty="0"/>
            </a:br>
            <a:r>
              <a:rPr lang="en-GB" b="1" dirty="0"/>
              <a:t>EXECUTIVE SUMMARY</a:t>
            </a:r>
            <a:br>
              <a:rPr lang="en-GB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18090-AC3B-EBD5-65FA-F527CEB48F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Executive Takeaways</a:t>
            </a:r>
          </a:p>
          <a:p>
            <a:r>
              <a:rPr lang="en-GB" sz="2000" dirty="0"/>
              <a:t>Revenue growth exists but is inconsistent</a:t>
            </a:r>
          </a:p>
          <a:p>
            <a:r>
              <a:rPr lang="en-GB" sz="2000" dirty="0"/>
              <a:t>Costs are stable but not optimized</a:t>
            </a:r>
          </a:p>
          <a:p>
            <a:r>
              <a:rPr lang="en-GB" sz="2000" dirty="0"/>
              <a:t>Profitability is volatile</a:t>
            </a:r>
          </a:p>
          <a:p>
            <a:r>
              <a:rPr lang="en-GB" sz="2000" dirty="0"/>
              <a:t>Budget overruns are frequent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b="1" dirty="0"/>
              <a:t>Overall Risk:</a:t>
            </a:r>
            <a:br>
              <a:rPr lang="en-GB" dirty="0"/>
            </a:br>
            <a:r>
              <a:rPr lang="en-GB" sz="2000" dirty="0"/>
              <a:t>Financial performance depends heavily on peak periods and lacks tight budget control.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1854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35910-F2B9-AE1F-936B-3245CBF1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STRATEGIC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2FD5D-D56A-0DB4-1FD2-2BE6B0ABF6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3069"/>
            <a:ext cx="10515600" cy="31674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Recommended Actions</a:t>
            </a:r>
          </a:p>
          <a:p>
            <a:r>
              <a:rPr lang="en-IN" sz="2000" dirty="0"/>
              <a:t> Diversify revenue streams to reduce seasonality risk.</a:t>
            </a:r>
          </a:p>
          <a:p>
            <a:r>
              <a:rPr lang="en-IN" sz="2000" dirty="0"/>
              <a:t>Improve budget forecasting using historical variance patterns.</a:t>
            </a:r>
          </a:p>
          <a:p>
            <a:r>
              <a:rPr lang="en-IN" sz="2000" dirty="0"/>
              <a:t>Implement monthly budget variance monitoring.</a:t>
            </a:r>
          </a:p>
          <a:p>
            <a:r>
              <a:rPr lang="en-IN" sz="2000" dirty="0"/>
              <a:t>Focus on margin optimization during mid-performing months.</a:t>
            </a:r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370612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424</Words>
  <Application>Microsoft Office PowerPoint</Application>
  <PresentationFormat>Widescreen</PresentationFormat>
  <Paragraphs>71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EDA — Time Series &amp; Trend Insights</vt:lpstr>
      <vt:lpstr>Revenue Trend — Key Findings</vt:lpstr>
      <vt:lpstr>Expense Trend — Key Findings</vt:lpstr>
      <vt:lpstr>Profit Trend — Key Findings</vt:lpstr>
      <vt:lpstr>Budget Variance — Key Findings</vt:lpstr>
      <vt:lpstr> EXECUTIVE SUMMARY </vt:lpstr>
      <vt:lpstr>STRATEGIC 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MOHIT KUMAR SINGH</dc:creator>
  <cp:lastModifiedBy>MOHIT KUMAR SINGH</cp:lastModifiedBy>
  <cp:revision>6</cp:revision>
  <dcterms:created xsi:type="dcterms:W3CDTF">2026-01-21T21:52:48Z</dcterms:created>
  <dcterms:modified xsi:type="dcterms:W3CDTF">2026-01-21T22:15:22Z</dcterms:modified>
</cp:coreProperties>
</file>